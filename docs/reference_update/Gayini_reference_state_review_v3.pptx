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0">
                <a:solidFill>
                  <a:srgbClr val="5F6B67"/>
                </a:solidFill>
                <a:latin typeface="Calibri"/>
              </a:rPr>
              <a:t>Vegetation floor: gap to the grazed median (percentage points)</a:t>
            </a:r>
          </a:p>
        </c:rich>
      </c:tx>
      <c:layout/>
      <c:overlay val="0"/>
    </c:title>
    <c:autoTitleDeleted val="0"/>
    <c:plotArea>
      <c:lineChart>
        <c:grouping val="standard"/>
        <c:varyColors val="0"/>
        <c:ser>
          <c:idx val="0"/>
          <c:order val="0"/>
          <c:tx>
            <c:strRef>
              <c:f>Sheet1!$B$1</c:f>
              <c:strCache>
                <c:ptCount val="1"/>
                <c:pt idx="0">
                  <c:v>All four reference paddocks</c:v>
                </c:pt>
              </c:strCache>
            </c:strRef>
          </c:tx>
          <c:spPr>
            <a:ln w="28575">
              <a:solidFill>
                <a:srgbClr val="8A8378"/>
              </a:solidFill>
            </a:ln>
          </c:spPr>
          <c:marker>
            <c:spPr>
              <a:solidFill>
                <a:srgbClr val="8A8378"/>
              </a:solidFill>
            </c:spPr>
          </c:marker>
          <c:cat>
            <c:strRef>
              <c:f>Sheet1!$A$2:$A$6</c:f>
              <c:strCache>
                <c:ptCount val="5"/>
                <c:pt idx="0">
                  <c:v>1988–92</c:v>
                </c:pt>
                <c:pt idx="1">
                  <c:v>1993–2002</c:v>
                </c:pt>
                <c:pt idx="2">
                  <c:v>2003–12</c:v>
                </c:pt>
                <c:pt idx="3">
                  <c:v>2013–18</c:v>
                </c:pt>
                <c:pt idx="4">
                  <c:v>2019–22</c:v>
                </c:pt>
              </c:strCache>
            </c:strRef>
          </c:cat>
          <c:val>
            <c:numRef>
              <c:f>Sheet1!$B$2:$B$6</c:f>
              <c:numCache>
                <c:formatCode>General</c:formatCode>
                <c:ptCount val="5"/>
                <c:pt idx="0">
                  <c:v>-13.1</c:v>
                </c:pt>
                <c:pt idx="1">
                  <c:v>-11.4</c:v>
                </c:pt>
                <c:pt idx="2">
                  <c:v>-7.9</c:v>
                </c:pt>
                <c:pt idx="3">
                  <c:v>-5.7</c:v>
                </c:pt>
                <c:pt idx="4">
                  <c:v>-5.6</c:v>
                </c:pt>
              </c:numCache>
            </c:numRef>
          </c:val>
          <c:smooth val="0"/>
        </c:ser>
        <c:ser>
          <c:idx val="1"/>
          <c:order val="1"/>
          <c:tx>
            <c:strRef>
              <c:f>Sheet1!$C$1</c:f>
              <c:strCache>
                <c:ptCount val="1"/>
                <c:pt idx="0">
                  <c:v>Reference without Bala 29ca</c:v>
                </c:pt>
              </c:strCache>
            </c:strRef>
          </c:tx>
          <c:spPr>
            <a:ln w="28575">
              <a:solidFill>
                <a:srgbClr val="2E6B2E"/>
              </a:solidFill>
            </a:ln>
          </c:spPr>
          <c:marker>
            <c:spPr>
              <a:solidFill>
                <a:srgbClr val="2E6B2E"/>
              </a:solidFill>
            </c:spPr>
          </c:marker>
          <c:cat>
            <c:strRef>
              <c:f>Sheet1!$A$2:$A$6</c:f>
              <c:strCache>
                <c:ptCount val="5"/>
                <c:pt idx="0">
                  <c:v>1988–92</c:v>
                </c:pt>
                <c:pt idx="1">
                  <c:v>1993–2002</c:v>
                </c:pt>
                <c:pt idx="2">
                  <c:v>2003–12</c:v>
                </c:pt>
                <c:pt idx="3">
                  <c:v>2013–18</c:v>
                </c:pt>
                <c:pt idx="4">
                  <c:v>2019–22</c:v>
                </c:pt>
              </c:strCache>
            </c:strRef>
          </c:cat>
          <c:val>
            <c:numRef>
              <c:f>Sheet1!$C$2:$C$6</c:f>
              <c:numCache>
                <c:formatCode>General</c:formatCode>
                <c:ptCount val="5"/>
                <c:pt idx="0">
                  <c:v>-3.3</c:v>
                </c:pt>
                <c:pt idx="1">
                  <c:v>-2.2</c:v>
                </c:pt>
                <c:pt idx="2">
                  <c:v>-1.8</c:v>
                </c:pt>
                <c:pt idx="3">
                  <c:v>-1.6</c:v>
                </c:pt>
                <c:pt idx="4">
                  <c:v>-1.5</c:v>
                </c:pt>
              </c:numCache>
            </c:numRef>
          </c:val>
          <c:smooth val="0"/>
        </c:ser>
        <c:ser>
          <c:idx val="2"/>
          <c:order val="2"/>
          <c:tx>
            <c:strRef>
              <c:f>Sheet1!$D$1</c:f>
              <c:strCache>
                <c:ptCount val="1"/>
                <c:pt idx="0">
                  <c:v>Bala 29ca alone</c:v>
                </c:pt>
              </c:strCache>
            </c:strRef>
          </c:tx>
          <c:spPr>
            <a:ln w="28575">
              <a:solidFill>
                <a:srgbClr val="B33A3A"/>
              </a:solidFill>
            </a:ln>
          </c:spPr>
          <c:marker>
            <c:spPr>
              <a:solidFill>
                <a:srgbClr val="B33A3A"/>
              </a:solidFill>
            </c:spPr>
          </c:marker>
          <c:cat>
            <c:strRef>
              <c:f>Sheet1!$A$2:$A$6</c:f>
              <c:strCache>
                <c:ptCount val="5"/>
                <c:pt idx="0">
                  <c:v>1988–92</c:v>
                </c:pt>
                <c:pt idx="1">
                  <c:v>1993–2002</c:v>
                </c:pt>
                <c:pt idx="2">
                  <c:v>2003–12</c:v>
                </c:pt>
                <c:pt idx="3">
                  <c:v>2013–18</c:v>
                </c:pt>
                <c:pt idx="4">
                  <c:v>2019–22</c:v>
                </c:pt>
              </c:strCache>
            </c:strRef>
          </c:cat>
          <c:val>
            <c:numRef>
              <c:f>Sheet1!$D$2:$D$6</c:f>
              <c:numCache>
                <c:formatCode>General</c:formatCode>
                <c:ptCount val="5"/>
                <c:pt idx="0">
                  <c:v>-42.3</c:v>
                </c:pt>
                <c:pt idx="1">
                  <c:v>-39.0</c:v>
                </c:pt>
                <c:pt idx="2">
                  <c:v>-26.2</c:v>
                </c:pt>
                <c:pt idx="3">
                  <c:v>-18.2</c:v>
                </c:pt>
                <c:pt idx="4">
                  <c:v>-18.0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50"/>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050"/>
            </a:pPr>
          </a:p>
        </c:txPr>
        <c:crossAx val="2118791784"/>
        <c:crosses val="autoZero"/>
      </c:valAx>
    </c:plotArea>
    <c:legend>
      <c:legendPos val="b"/>
      <c:layout/>
      <c:overlay val="0"/>
      <c:txPr>
        <a:bodyPr/>
        <a:lstStyle/>
        <a:p>
          <a:pPr>
            <a:defRPr sz="1050">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0">
                <a:solidFill>
                  <a:srgbClr val="5F6B67"/>
                </a:solidFill>
                <a:latin typeface="Calibri"/>
              </a:rPr>
              <a:t>Reference minus grazed (percentage points)</a:t>
            </a:r>
          </a:p>
        </c:rich>
      </c:tx>
      <c:layout/>
      <c:overlay val="0"/>
    </c:title>
    <c:autoTitleDeleted val="0"/>
    <c:plotArea>
      <c:barChart>
        <c:barDir val="col"/>
        <c:grouping val="clustered"/>
        <c:ser>
          <c:idx val="0"/>
          <c:order val="0"/>
          <c:tx>
            <c:strRef>
              <c:f>Sheet1!$B$1</c:f>
              <c:strCache>
                <c:ptCount val="1"/>
                <c:pt idx="0">
                  <c:v>Mean cover deficit</c:v>
                </c:pt>
              </c:strCache>
            </c:strRef>
          </c:tx>
          <c:spPr>
            <a:solidFill>
              <a:srgbClr val="C79A3B"/>
            </a:solidFill>
          </c:spPr>
          <c:dLbls>
            <c:numFmt formatCode="0.0" sourceLinked="0"/>
            <c:txPr>
              <a:bodyPr/>
              <a:lstStyle/>
              <a:p>
                <a:pPr>
                  <a:defRPr sz="1050"/>
                </a:pPr>
              </a:p>
            </c:txPr>
            <c:showLegendKey val="0"/>
            <c:showVal val="0"/>
            <c:showCatName val="0"/>
            <c:showSerName val="0"/>
            <c:showPercent val="0"/>
            <c:showBubbleSize val="0"/>
            <c:showLeaderLines val="1"/>
          </c:dLbls>
          <c:cat>
            <c:strRef>
              <c:f>Sheet1!$A$2:$A$4</c:f>
              <c:strCache>
                <c:ptCount val="3"/>
                <c:pt idx="0">
                  <c:v>Aeolian</c:v>
                </c:pt>
                <c:pt idx="1">
                  <c:v>Riverine</c:v>
                </c:pt>
                <c:pt idx="2">
                  <c:v>Inland</c:v>
                </c:pt>
              </c:strCache>
            </c:strRef>
          </c:cat>
          <c:val>
            <c:numRef>
              <c:f>Sheet1!$B$2:$B$4</c:f>
              <c:numCache>
                <c:formatCode>General</c:formatCode>
                <c:ptCount val="3"/>
                <c:pt idx="0">
                  <c:v>-3.0</c:v>
                </c:pt>
                <c:pt idx="1">
                  <c:v>-0.8</c:v>
                </c:pt>
                <c:pt idx="2">
                  <c:v>1.8</c:v>
                </c:pt>
              </c:numCache>
            </c:numRef>
          </c:val>
        </c:ser>
        <c:ser>
          <c:idx val="1"/>
          <c:order val="1"/>
          <c:tx>
            <c:strRef>
              <c:f>Sheet1!$C$1</c:f>
              <c:strCache>
                <c:ptCount val="1"/>
                <c:pt idx="0">
                  <c:v>Floor deficit</c:v>
                </c:pt>
              </c:strCache>
            </c:strRef>
          </c:tx>
          <c:spPr>
            <a:solidFill>
              <a:srgbClr val="2165AC"/>
            </a:solidFill>
          </c:spPr>
          <c:dLbls>
            <c:numFmt formatCode="0.0" sourceLinked="0"/>
            <c:txPr>
              <a:bodyPr/>
              <a:lstStyle/>
              <a:p>
                <a:pPr>
                  <a:defRPr sz="1050"/>
                </a:pPr>
              </a:p>
            </c:txPr>
            <c:showLegendKey val="0"/>
            <c:showVal val="0"/>
            <c:showCatName val="0"/>
            <c:showSerName val="0"/>
            <c:showPercent val="0"/>
            <c:showBubbleSize val="0"/>
            <c:showLeaderLines val="1"/>
          </c:dLbls>
          <c:cat>
            <c:strRef>
              <c:f>Sheet1!$A$2:$A$4</c:f>
              <c:strCache>
                <c:ptCount val="3"/>
                <c:pt idx="0">
                  <c:v>Aeolian</c:v>
                </c:pt>
                <c:pt idx="1">
                  <c:v>Riverine</c:v>
                </c:pt>
                <c:pt idx="2">
                  <c:v>Inland</c:v>
                </c:pt>
              </c:strCache>
            </c:strRef>
          </c:cat>
          <c:val>
            <c:numRef>
              <c:f>Sheet1!$C$2:$C$4</c:f>
              <c:numCache>
                <c:formatCode>General</c:formatCode>
                <c:ptCount val="3"/>
                <c:pt idx="0">
                  <c:v>-19.6</c:v>
                </c:pt>
                <c:pt idx="1">
                  <c:v>-11.7</c:v>
                </c:pt>
                <c:pt idx="2">
                  <c:v>1.1</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50"/>
            </a:pPr>
          </a:p>
        </c:txPr>
        <c:crossAx val="-2068027336"/>
        <c:crosses val="autoZero"/>
      </c:valAx>
    </c:plotArea>
    <c:legend>
      <c:legendPos val="b"/>
      <c:overlay val="0"/>
      <c:txPr>
        <a:bodyPr/>
        <a:lstStyle/>
        <a:p>
          <a:pPr>
            <a:defRPr sz="1050"/>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0">
                <a:solidFill>
                  <a:srgbClr val="5F6B67"/>
                </a:solidFill>
                <a:latin typeface="Calibri"/>
              </a:rPr>
              <a:t>Ungrazed minus grazed, vegetation floor (percentage points)</a:t>
            </a:r>
          </a:p>
        </c:rich>
      </c:tx>
      <c:layout/>
      <c:overlay val="0"/>
    </c:title>
    <c:autoTitleDeleted val="0"/>
    <c:plotArea>
      <c:barChart>
        <c:barDir val="col"/>
        <c:grouping val="clustered"/>
        <c:ser>
          <c:idx val="0"/>
          <c:order val="0"/>
          <c:tx>
            <c:strRef>
              <c:f>Sheet1!$B$1</c:f>
              <c:strCache>
                <c:ptCount val="1"/>
                <c:pt idx="0">
                  <c:v>All ungrazed zones, pixel-weighted</c:v>
                </c:pt>
              </c:strCache>
            </c:strRef>
          </c:tx>
          <c:spPr>
            <a:solidFill>
              <a:srgbClr val="C79A3B"/>
            </a:solidFill>
          </c:spPr>
          <c:dLbls>
            <c:numFmt formatCode="0.0" sourceLinked="0"/>
            <c:txPr>
              <a:bodyPr/>
              <a:lstStyle/>
              <a:p>
                <a:pPr>
                  <a:defRPr sz="1050"/>
                </a:pPr>
              </a:p>
            </c:txPr>
            <c:showLegendKey val="0"/>
            <c:showVal val="0"/>
            <c:showCatName val="0"/>
            <c:showSerName val="0"/>
            <c:showPercent val="0"/>
            <c:showBubbleSize val="0"/>
            <c:showLeaderLines val="1"/>
          </c:dLbls>
          <c:cat>
            <c:strRef>
              <c:f>Sheet1!$A$2:$A$4</c:f>
              <c:strCache>
                <c:ptCount val="3"/>
                <c:pt idx="0">
                  <c:v>Riverine low</c:v>
                </c:pt>
                <c:pt idx="1">
                  <c:v>Riverine mid</c:v>
                </c:pt>
                <c:pt idx="2">
                  <c:v>Riverine high</c:v>
                </c:pt>
              </c:strCache>
            </c:strRef>
          </c:cat>
          <c:val>
            <c:numRef>
              <c:f>Sheet1!$B$2:$B$4</c:f>
              <c:numCache>
                <c:formatCode>General</c:formatCode>
                <c:ptCount val="3"/>
                <c:pt idx="0">
                  <c:v>7.55</c:v>
                </c:pt>
                <c:pt idx="1">
                  <c:v>7.47</c:v>
                </c:pt>
                <c:pt idx="2">
                  <c:v>8.25</c:v>
                </c:pt>
              </c:numCache>
            </c:numRef>
          </c:val>
        </c:ser>
        <c:ser>
          <c:idx val="1"/>
          <c:order val="1"/>
          <c:tx>
            <c:strRef>
              <c:f>Sheet1!$C$1</c:f>
              <c:strCache>
                <c:ptCount val="1"/>
                <c:pt idx="0">
                  <c:v>Bala only, at zone support</c:v>
                </c:pt>
              </c:strCache>
            </c:strRef>
          </c:tx>
          <c:spPr>
            <a:solidFill>
              <a:srgbClr val="2A6560"/>
            </a:solidFill>
          </c:spPr>
          <c:dLbls>
            <c:numFmt formatCode="0.0" sourceLinked="0"/>
            <c:txPr>
              <a:bodyPr/>
              <a:lstStyle/>
              <a:p>
                <a:pPr>
                  <a:defRPr sz="1050"/>
                </a:pPr>
              </a:p>
            </c:txPr>
            <c:showLegendKey val="0"/>
            <c:showVal val="0"/>
            <c:showCatName val="0"/>
            <c:showSerName val="0"/>
            <c:showPercent val="0"/>
            <c:showBubbleSize val="0"/>
            <c:showLeaderLines val="1"/>
          </c:dLbls>
          <c:cat>
            <c:strRef>
              <c:f>Sheet1!$A$2:$A$4</c:f>
              <c:strCache>
                <c:ptCount val="3"/>
                <c:pt idx="0">
                  <c:v>Riverine low</c:v>
                </c:pt>
                <c:pt idx="1">
                  <c:v>Riverine mid</c:v>
                </c:pt>
                <c:pt idx="2">
                  <c:v>Riverine high</c:v>
                </c:pt>
              </c:strCache>
            </c:strRef>
          </c:cat>
          <c:val>
            <c:numRef>
              <c:f>Sheet1!$C$2:$C$4</c:f>
              <c:numCache>
                <c:formatCode>General</c:formatCode>
                <c:ptCount val="3"/>
                <c:pt idx="0">
                  <c:v>3.62</c:v>
                </c:pt>
                <c:pt idx="1">
                  <c:v>0.12</c:v>
                </c:pt>
                <c:pt idx="2">
                  <c:v>-2.13</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50"/>
            </a:pPr>
          </a:p>
        </c:txPr>
        <c:crossAx val="-2068027336"/>
        <c:crosses val="autoZero"/>
      </c:valAx>
    </c:plotArea>
    <c:legend>
      <c:legendPos val="b"/>
      <c:overlay val="0"/>
      <c:txPr>
        <a:bodyPr/>
        <a:lstStyle/>
        <a:p>
          <a:pPr>
            <a:defRPr sz="1050"/>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title>
      <c:tx>
        <c:rich>
          <a:bodyPr/>
          <a:lstStyle/>
          <a:p>
            <a:r>
              <a:rPr sz="1200" b="0">
                <a:solidFill>
                  <a:srgbClr val="5F6B67"/>
                </a:solidFill>
                <a:latin typeface="Calibri"/>
              </a:rPr>
              <a:t>Vegetation floor against mean annual inundation, 64 paddocks</a:t>
            </a:r>
          </a:p>
        </c:rich>
      </c:tx>
      <c:layout/>
      <c:overlay val="0"/>
    </c:title>
    <c:plotArea>
      <c:scatterChart>
        <c:scatterStyle val="lineMarker"/>
        <c:varyColors val="0"/>
        <c:ser>
          <c:idx val="0"/>
          <c:order val="0"/>
          <c:tx>
            <c:strRef>
              <c:f>Sheet1!$B$1</c:f>
              <c:strCache>
                <c:ptCount val="1"/>
                <c:pt idx="0">
                  <c:v>Paddocks</c:v>
                </c:pt>
              </c:strCache>
            </c:strRef>
          </c:tx>
          <c:spPr>
            <a:ln w="47625">
              <a:noFill/>
            </a:ln>
          </c:spPr>
          <c:marker>
            <c:spPr>
              <a:solidFill>
                <a:srgbClr val="2A6560"/>
              </a:solidFill>
            </c:spPr>
          </c:marker>
          <c:xVal>
            <c:numRef>
              <c:f>Sheet1!$A$2:$A$65</c:f>
              <c:numCache>
                <c:formatCode>General</c:formatCode>
                <c:ptCount val="64"/>
                <c:pt idx="0">
                  <c:v>45.29196306947177</c:v>
                </c:pt>
                <c:pt idx="1">
                  <c:v>29.69024116255169</c:v>
                </c:pt>
                <c:pt idx="2">
                  <c:v>43.34342633623994</c:v>
                </c:pt>
                <c:pt idx="3">
                  <c:v>8.527335898914044</c:v>
                </c:pt>
                <c:pt idx="4">
                  <c:v>15.261984706977795</c:v>
                </c:pt>
                <c:pt idx="5">
                  <c:v>10.768666486670982</c:v>
                </c:pt>
                <c:pt idx="6">
                  <c:v>11.593451662932965</c:v>
                </c:pt>
                <c:pt idx="7">
                  <c:v>26.64498284075194</c:v>
                </c:pt>
                <c:pt idx="8">
                  <c:v>16.177821522309713</c:v>
                </c:pt>
                <c:pt idx="9">
                  <c:v>10.545037999779712</c:v>
                </c:pt>
                <c:pt idx="10">
                  <c:v>23.385933744382903</c:v>
                </c:pt>
                <c:pt idx="11">
                  <c:v>39.605493729185206</c:v>
                </c:pt>
                <c:pt idx="12">
                  <c:v>30.285221752076477</c:v>
                </c:pt>
                <c:pt idx="13">
                  <c:v>25.58482932996207</c:v>
                </c:pt>
                <c:pt idx="14">
                  <c:v>27.415682062298604</c:v>
                </c:pt>
                <c:pt idx="15">
                  <c:v>44.98322940287227</c:v>
                </c:pt>
                <c:pt idx="16">
                  <c:v>29.148343405769143</c:v>
                </c:pt>
                <c:pt idx="17">
                  <c:v>37.50392340608099</c:v>
                </c:pt>
                <c:pt idx="18">
                  <c:v>40.3899395593683</c:v>
                </c:pt>
                <c:pt idx="19">
                  <c:v>58.89750963051382</c:v>
                </c:pt>
                <c:pt idx="20">
                  <c:v>38.60372956273486</c:v>
                </c:pt>
                <c:pt idx="21">
                  <c:v>23.747510650633995</c:v>
                </c:pt>
                <c:pt idx="22">
                  <c:v>32.38335553639997</c:v>
                </c:pt>
                <c:pt idx="23">
                  <c:v>35.373021853805575</c:v>
                </c:pt>
                <c:pt idx="24">
                  <c:v>31.974735875057416</c:v>
                </c:pt>
                <c:pt idx="25">
                  <c:v>38.049654049654045</c:v>
                </c:pt>
                <c:pt idx="26">
                  <c:v>20.278991596638654</c:v>
                </c:pt>
                <c:pt idx="27">
                  <c:v>17.23497661029147</c:v>
                </c:pt>
                <c:pt idx="28">
                  <c:v>32.97450424929178</c:v>
                </c:pt>
                <c:pt idx="29">
                  <c:v>29.899083882049815</c:v>
                </c:pt>
                <c:pt idx="30">
                  <c:v>30.768392370572215</c:v>
                </c:pt>
                <c:pt idx="31">
                  <c:v>36.004953389976265</c:v>
                </c:pt>
                <c:pt idx="32">
                  <c:v>42.31468562541658</c:v>
                </c:pt>
                <c:pt idx="33">
                  <c:v>44.878817733990154</c:v>
                </c:pt>
                <c:pt idx="34">
                  <c:v>33.548926840526185</c:v>
                </c:pt>
                <c:pt idx="35">
                  <c:v>36.903792348818534</c:v>
                </c:pt>
                <c:pt idx="36">
                  <c:v>31.353090308454654</c:v>
                </c:pt>
                <c:pt idx="37">
                  <c:v>15.75354877680459</c:v>
                </c:pt>
                <c:pt idx="38">
                  <c:v>8.207939224129825</c:v>
                </c:pt>
                <c:pt idx="39">
                  <c:v>30.932006405068957</c:v>
                </c:pt>
                <c:pt idx="40">
                  <c:v>42.949713658115634</c:v>
                </c:pt>
                <c:pt idx="41">
                  <c:v>31.21363154943617</c:v>
                </c:pt>
                <c:pt idx="42">
                  <c:v>17.16041500399042</c:v>
                </c:pt>
                <c:pt idx="43">
                  <c:v>42.067426429017765</c:v>
                </c:pt>
                <c:pt idx="44">
                  <c:v>41.424382069543356</c:v>
                </c:pt>
                <c:pt idx="45">
                  <c:v>29.65969366469992</c:v>
                </c:pt>
                <c:pt idx="46">
                  <c:v>24.310957221043225</c:v>
                </c:pt>
                <c:pt idx="47">
                  <c:v>25.720300751879698</c:v>
                </c:pt>
                <c:pt idx="48">
                  <c:v>41.15867845509539</c:v>
                </c:pt>
                <c:pt idx="49">
                  <c:v>48.087774294670844</c:v>
                </c:pt>
                <c:pt idx="50">
                  <c:v>15.79651422612841</c:v>
                </c:pt>
                <c:pt idx="51">
                  <c:v>30.552062645990464</c:v>
                </c:pt>
                <c:pt idx="52">
                  <c:v>21.90294837724162</c:v>
                </c:pt>
                <c:pt idx="53">
                  <c:v>8.630281690140846</c:v>
                </c:pt>
                <c:pt idx="54">
                  <c:v>12.508794568874391</c:v>
                </c:pt>
                <c:pt idx="55">
                  <c:v>11.512802000606877</c:v>
                </c:pt>
                <c:pt idx="56">
                  <c:v>5.0858371371381965</c:v>
                </c:pt>
                <c:pt idx="57">
                  <c:v>27.99100958412259</c:v>
                </c:pt>
                <c:pt idx="58">
                  <c:v>15.050696811494154</c:v>
                </c:pt>
                <c:pt idx="59">
                  <c:v>1.7133235887283296</c:v>
                </c:pt>
                <c:pt idx="60">
                  <c:v>21.549662141960177</c:v>
                </c:pt>
                <c:pt idx="61">
                  <c:v>21.148832806851484</c:v>
                </c:pt>
                <c:pt idx="62">
                  <c:v>18.193373865770226</c:v>
                </c:pt>
                <c:pt idx="63">
                  <c:v>24.60057320469866</c:v>
                </c:pt>
              </c:numCache>
            </c:numRef>
          </c:xVal>
          <c:yVal>
            <c:numRef>
              <c:f>Sheet1!$B$2:$B$65</c:f>
              <c:numCache>
                <c:formatCode>General</c:formatCode>
                <c:ptCount val="64"/>
                <c:pt idx="0">
                  <c:v>68.76950568062918</c:v>
                </c:pt>
                <c:pt idx="1">
                  <c:v>68.01172067369734</c:v>
                </c:pt>
                <c:pt idx="2">
                  <c:v>68.08737235477992</c:v>
                </c:pt>
                <c:pt idx="3">
                  <c:v>40.522766652788434</c:v>
                </c:pt>
                <c:pt idx="4">
                  <c:v>69.97116350446429</c:v>
                </c:pt>
                <c:pt idx="5">
                  <c:v>68.20261202675957</c:v>
                </c:pt>
                <c:pt idx="6">
                  <c:v>63.8278942653111</c:v>
                </c:pt>
                <c:pt idx="7">
                  <c:v>76.49731472560337</c:v>
                </c:pt>
                <c:pt idx="8">
                  <c:v>66.43717763083322</c:v>
                </c:pt>
                <c:pt idx="9">
                  <c:v>67.67694415501187</c:v>
                </c:pt>
                <c:pt idx="10">
                  <c:v>64.9800057547433</c:v>
                </c:pt>
                <c:pt idx="11">
                  <c:v>69.66642932891845</c:v>
                </c:pt>
                <c:pt idx="12">
                  <c:v>74.24027906690324</c:v>
                </c:pt>
                <c:pt idx="13">
                  <c:v>49.05233853476388</c:v>
                </c:pt>
                <c:pt idx="14">
                  <c:v>73.9329936000279</c:v>
                </c:pt>
                <c:pt idx="15">
                  <c:v>79.10019629342216</c:v>
                </c:pt>
                <c:pt idx="16">
                  <c:v>73.08549037388393</c:v>
                </c:pt>
                <c:pt idx="17">
                  <c:v>68.18422344752719</c:v>
                </c:pt>
                <c:pt idx="18">
                  <c:v>75.51308974674771</c:v>
                </c:pt>
                <c:pt idx="19">
                  <c:v>84.0552551814488</c:v>
                </c:pt>
                <c:pt idx="20">
                  <c:v>69.02385917663575</c:v>
                </c:pt>
                <c:pt idx="21">
                  <c:v>70.42801449911934</c:v>
                </c:pt>
                <c:pt idx="22">
                  <c:v>68.93550412314279</c:v>
                </c:pt>
                <c:pt idx="23">
                  <c:v>74.6279545375279</c:v>
                </c:pt>
                <c:pt idx="24">
                  <c:v>72.06535943712508</c:v>
                </c:pt>
                <c:pt idx="25">
                  <c:v>78.21967029026577</c:v>
                </c:pt>
                <c:pt idx="26">
                  <c:v>64.80983937399728</c:v>
                </c:pt>
                <c:pt idx="27">
                  <c:v>61.9530328805106</c:v>
                </c:pt>
                <c:pt idx="28">
                  <c:v>73.23482148306711</c:v>
                </c:pt>
                <c:pt idx="29">
                  <c:v>73.74629792349678</c:v>
                </c:pt>
                <c:pt idx="30">
                  <c:v>69.04967532566616</c:v>
                </c:pt>
                <c:pt idx="31">
                  <c:v>76.11370870317731</c:v>
                </c:pt>
                <c:pt idx="32">
                  <c:v>76.92922374180385</c:v>
                </c:pt>
                <c:pt idx="33">
                  <c:v>77.08641967773438</c:v>
                </c:pt>
                <c:pt idx="34">
                  <c:v>74.95367767878942</c:v>
                </c:pt>
                <c:pt idx="35">
                  <c:v>78.98186160496304</c:v>
                </c:pt>
                <c:pt idx="36">
                  <c:v>73.19553557259697</c:v>
                </c:pt>
                <c:pt idx="37">
                  <c:v>65.48883019583566</c:v>
                </c:pt>
                <c:pt idx="38">
                  <c:v>63.48605652400425</c:v>
                </c:pt>
                <c:pt idx="39">
                  <c:v>75.27959930964879</c:v>
                </c:pt>
                <c:pt idx="40">
                  <c:v>77.13650107792446</c:v>
                </c:pt>
                <c:pt idx="41">
                  <c:v>77.73911502838135</c:v>
                </c:pt>
                <c:pt idx="42">
                  <c:v>71.82233742850167</c:v>
                </c:pt>
                <c:pt idx="43">
                  <c:v>79.68815337044853</c:v>
                </c:pt>
                <c:pt idx="44">
                  <c:v>69.71606431143626</c:v>
                </c:pt>
                <c:pt idx="45">
                  <c:v>72.2302963256836</c:v>
                </c:pt>
                <c:pt idx="46">
                  <c:v>68.04318117414202</c:v>
                </c:pt>
                <c:pt idx="47">
                  <c:v>68.20462999071394</c:v>
                </c:pt>
                <c:pt idx="48">
                  <c:v>78.08956571851456</c:v>
                </c:pt>
                <c:pt idx="49">
                  <c:v>76.01271612984793</c:v>
                </c:pt>
                <c:pt idx="50">
                  <c:v>50.24964378084455</c:v>
                </c:pt>
                <c:pt idx="51">
                  <c:v>69.34906363351006</c:v>
                </c:pt>
                <c:pt idx="52">
                  <c:v>62.47454650878907</c:v>
                </c:pt>
                <c:pt idx="53">
                  <c:v>58.62968332563127</c:v>
                </c:pt>
                <c:pt idx="54">
                  <c:v>49.187713759286055</c:v>
                </c:pt>
                <c:pt idx="55">
                  <c:v>55.595883047921326</c:v>
                </c:pt>
                <c:pt idx="56">
                  <c:v>40.38301417759487</c:v>
                </c:pt>
                <c:pt idx="57">
                  <c:v>52.94597289221627</c:v>
                </c:pt>
                <c:pt idx="58">
                  <c:v>61.35054525102888</c:v>
                </c:pt>
                <c:pt idx="59">
                  <c:v>60.88819721766879</c:v>
                </c:pt>
                <c:pt idx="60">
                  <c:v>58.73536640712194</c:v>
                </c:pt>
                <c:pt idx="61">
                  <c:v>56.70940832955497</c:v>
                </c:pt>
                <c:pt idx="62">
                  <c:v>49.39992937905448</c:v>
                </c:pt>
                <c:pt idx="63">
                  <c:v>65.384466784341</c:v>
                </c:pt>
              </c:numCache>
            </c:numRef>
          </c:yVal>
          <c:smooth val="0"/>
        </c:ser>
        <c:axId val="-2128940872"/>
        <c:axId val="-2129643912"/>
      </c:scatterChart>
      <c:valAx>
        <c:axId val="-2128940872"/>
        <c:scaling>
          <c:orientation val="minMax"/>
        </c:scaling>
        <c:delete val="0"/>
        <c:axPos val="b"/>
        <c:title>
          <c:tx>
            <c:rich>
              <a:bodyPr/>
              <a:lstStyle/>
              <a:p>
                <a:r>
                  <a:rPr sz="1100">
                    <a:solidFill>
                      <a:srgbClr val="5F6B67"/>
                    </a:solidFill>
                    <a:latin typeface="Calibri"/>
                  </a:rPr>
                  <a:t>Mean annual inundation (% of paddock)</a:t>
                </a:r>
              </a:p>
            </c:rich>
          </c:tx>
          <c:layout/>
          <c:overlay val="0"/>
        </c:title>
        <c:numFmt formatCode="General" sourceLinked="1"/>
        <c:majorTickMark val="out"/>
        <c:minorTickMark val="none"/>
        <c:tickLblPos val="nextTo"/>
        <c:txPr>
          <a:bodyPr/>
          <a:lstStyle/>
          <a:p>
            <a:pPr>
              <a:defRPr sz="1050"/>
            </a:pPr>
          </a:p>
        </c:txPr>
        <c:crossAx val="-2129643912"/>
        <c:crosses val="autoZero"/>
        <c:crossBetween val="midCat"/>
      </c:valAx>
      <c:valAx>
        <c:axId val="-2129643912"/>
        <c:scaling>
          <c:orientation val="minMax"/>
        </c:scaling>
        <c:delete val="0"/>
        <c:axPos val="l"/>
        <c:majorGridlines/>
        <c:title>
          <c:tx>
            <c:rich>
              <a:bodyPr/>
              <a:lstStyle/>
              <a:p>
                <a:r>
                  <a:rPr sz="1100">
                    <a:solidFill>
                      <a:srgbClr val="5F6B67"/>
                    </a:solidFill>
                    <a:latin typeface="Calibri"/>
                  </a:rPr>
                  <a:t>Vegetation floor (%)</a:t>
                </a:r>
              </a:p>
            </c:rich>
          </c:tx>
          <c:layout/>
          <c:overlay val="0"/>
        </c:title>
        <c:numFmt formatCode="General" sourceLinked="1"/>
        <c:majorTickMark val="out"/>
        <c:minorTickMark val="none"/>
        <c:tickLblPos val="nextTo"/>
        <c:txPr>
          <a:bodyPr/>
          <a:lstStyle/>
          <a:p>
            <a:pPr>
              <a:defRPr sz="1050"/>
            </a:pPr>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423160"/>
            <a:ext cx="10515600" cy="1371600"/>
          </a:xfrm>
          <a:prstGeom prst="rect">
            <a:avLst/>
          </a:prstGeom>
          <a:noFill/>
        </p:spPr>
        <p:txBody>
          <a:bodyPr wrap="square" anchor="t" lIns="0" rIns="0" tIns="0" bIns="0">
            <a:spAutoFit/>
          </a:bodyPr>
          <a:lstStyle/>
          <a:p>
            <a:pPr algn="l">
              <a:lnSpc>
                <a:spcPts val="5000"/>
              </a:lnSpc>
            </a:pPr>
            <a:r>
              <a:rPr sz="4200" b="1" i="0">
                <a:solidFill>
                  <a:srgbClr val="FFFFFF"/>
                </a:solidFill>
                <a:latin typeface="Cambria"/>
              </a:rPr>
              <a:t>Is there a reference state on Gayini?</a:t>
            </a:r>
          </a:p>
        </p:txBody>
      </p:sp>
      <p:sp>
        <p:nvSpPr>
          <p:cNvPr id="4" name="TextBox 3"/>
          <p:cNvSpPr txBox="1"/>
          <p:nvPr/>
        </p:nvSpPr>
        <p:spPr>
          <a:xfrm>
            <a:off x="822960" y="3840480"/>
            <a:ext cx="10515600" cy="365760"/>
          </a:xfrm>
          <a:prstGeom prst="rect">
            <a:avLst/>
          </a:prstGeom>
          <a:noFill/>
        </p:spPr>
        <p:txBody>
          <a:bodyPr wrap="square" anchor="t" lIns="0" rIns="0" tIns="0" bIns="0">
            <a:spAutoFit/>
          </a:bodyPr>
          <a:lstStyle/>
          <a:p>
            <a:pPr algn="l"/>
            <a:r>
              <a:rPr sz="1400" b="0" i="0">
                <a:solidFill>
                  <a:srgbClr val="BFCFD2"/>
                </a:solidFill>
                <a:latin typeface="Calibri"/>
              </a:rPr>
              <a:t>Reference-state analysis  ·  Tasks T1, T2 and T6  ·  28 July 2026</a:t>
            </a:r>
          </a:p>
        </p:txBody>
      </p:sp>
      <p:sp>
        <p:nvSpPr>
          <p:cNvPr id="5" name="TextBox 4"/>
          <p:cNvSpPr txBox="1"/>
          <p:nvPr/>
        </p:nvSpPr>
        <p:spPr>
          <a:xfrm>
            <a:off x="822960" y="4343400"/>
            <a:ext cx="10515600" cy="365760"/>
          </a:xfrm>
          <a:prstGeom prst="rect">
            <a:avLst/>
          </a:prstGeom>
          <a:noFill/>
        </p:spPr>
        <p:txBody>
          <a:bodyPr wrap="square" anchor="t" lIns="0" rIns="0" tIns="0" bIns="0">
            <a:spAutoFit/>
          </a:bodyPr>
          <a:lstStyle/>
          <a:p>
            <a:pPr algn="l"/>
            <a:r>
              <a:rPr sz="1150" b="0" i="1">
                <a:solidFill>
                  <a:srgbClr val="8FA8AC"/>
                </a:solidFill>
                <a:latin typeface="Calibri"/>
              </a:rPr>
              <a:t>Every number in this deck is queryable from Gayini_Results.sqlite.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THE BRIEF</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What was asked</a:t>
            </a:r>
          </a:p>
        </p:txBody>
      </p:sp>
      <p:sp>
        <p:nvSpPr>
          <p:cNvPr id="5" name="Rounded Rectangle 4"/>
          <p:cNvSpPr/>
          <p:nvPr/>
        </p:nvSpPr>
        <p:spPr>
          <a:xfrm>
            <a:off x="640080" y="1691640"/>
            <a:ext cx="6675120" cy="21031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65960"/>
            <a:ext cx="6035040" cy="1554480"/>
          </a:xfrm>
          <a:prstGeom prst="rect">
            <a:avLst/>
          </a:prstGeom>
          <a:noFill/>
        </p:spPr>
        <p:txBody>
          <a:bodyPr wrap="square" anchor="t" lIns="0" rIns="0" tIns="0" bIns="0">
            <a:spAutoFit/>
          </a:bodyPr>
          <a:lstStyle/>
          <a:p>
            <a:pPr algn="l">
              <a:lnSpc>
                <a:spcPts val="2600"/>
              </a:lnSpc>
            </a:pPr>
            <a:r>
              <a:rPr sz="1600" b="0" i="1">
                <a:solidFill>
                  <a:srgbClr val="26302E"/>
                </a:solidFill>
                <a:latin typeface="Cambria"/>
              </a:rPr>
              <a:t>Since management changed, are the formerly-cropped paddocks becoming more like the conserved paddocks over time? Are they on a trajectory of improvement toward a reference state?</a:t>
            </a:r>
          </a:p>
        </p:txBody>
      </p:sp>
      <p:sp>
        <p:nvSpPr>
          <p:cNvPr id="7" name="TextBox 6"/>
          <p:cNvSpPr txBox="1"/>
          <p:nvPr/>
        </p:nvSpPr>
        <p:spPr>
          <a:xfrm>
            <a:off x="640080" y="3950208"/>
            <a:ext cx="6675120" cy="457200"/>
          </a:xfrm>
          <a:prstGeom prst="rect">
            <a:avLst/>
          </a:prstGeom>
          <a:noFill/>
        </p:spPr>
        <p:txBody>
          <a:bodyPr wrap="square" anchor="t" lIns="0" rIns="0" tIns="0" bIns="0">
            <a:spAutoFit/>
          </a:bodyPr>
          <a:lstStyle/>
          <a:p>
            <a:pPr algn="l">
              <a:lnSpc>
                <a:spcPts val="1500"/>
              </a:lnSpc>
            </a:pPr>
            <a:r>
              <a:rPr sz="1150" b="0" i="1">
                <a:solidFill>
                  <a:srgbClr val="8A8378"/>
                </a:solidFill>
                <a:latin typeface="Calibri"/>
              </a:rPr>
              <a:t>The design template is Dawson et al. (2016), Macquarie Marshes — same team, same basin, same problem.</a:t>
            </a:r>
          </a:p>
        </p:txBody>
      </p:sp>
      <p:sp>
        <p:nvSpPr>
          <p:cNvPr id="8" name="Rounded Rectangle 7"/>
          <p:cNvSpPr/>
          <p:nvPr/>
        </p:nvSpPr>
        <p:spPr>
          <a:xfrm>
            <a:off x="7680960" y="1691640"/>
            <a:ext cx="3840480" cy="3383280"/>
          </a:xfrm>
          <a:prstGeom prst="roundRect">
            <a:avLst>
              <a:gd name="adj" fmla="val 3000"/>
            </a:avLst>
          </a:prstGeom>
          <a:solidFill>
            <a:srgbClr val="F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965960"/>
            <a:ext cx="3291840" cy="320040"/>
          </a:xfrm>
          <a:prstGeom prst="rect">
            <a:avLst/>
          </a:prstGeom>
          <a:noFill/>
        </p:spPr>
        <p:txBody>
          <a:bodyPr wrap="square" anchor="t" lIns="0" rIns="0" tIns="0" bIns="0">
            <a:spAutoFit/>
          </a:bodyPr>
          <a:lstStyle/>
          <a:p>
            <a:pPr algn="l"/>
            <a:r>
              <a:rPr sz="1200" b="1" i="0">
                <a:solidFill>
                  <a:srgbClr val="9C5B2E"/>
                </a:solidFill>
                <a:latin typeface="Calibri"/>
              </a:rPr>
              <a:t>A distance-to-reference design needs</a:t>
            </a:r>
          </a:p>
        </p:txBody>
      </p:sp>
      <p:sp>
        <p:nvSpPr>
          <p:cNvPr id="10" name="TextBox 9"/>
          <p:cNvSpPr txBox="1"/>
          <p:nvPr/>
        </p:nvSpPr>
        <p:spPr>
          <a:xfrm>
            <a:off x="8001000" y="2468880"/>
            <a:ext cx="3291840" cy="2377440"/>
          </a:xfrm>
          <a:prstGeom prst="rect">
            <a:avLst/>
          </a:prstGeom>
          <a:noFill/>
        </p:spPr>
        <p:txBody>
          <a:bodyPr wrap="square" anchor="t" lIns="0" rIns="0" tIns="0" bIns="0">
            <a:spAutoFit/>
          </a:bodyPr>
          <a:lstStyle/>
          <a:p>
            <a:pPr algn="l">
              <a:lnSpc>
                <a:spcPts val="1550"/>
              </a:lnSpc>
            </a:pPr>
            <a:r>
              <a:rPr sz="1200" b="0" i="0">
                <a:solidFill>
                  <a:srgbClr val="9C5B2E"/>
                </a:solidFill>
                <a:latin typeface="Calibri"/>
              </a:rPr>
              <a:t>•  </a:t>
            </a:r>
            <a:r>
              <a:rPr sz="1200" b="0" i="0">
                <a:solidFill>
                  <a:srgbClr val="5F6B67"/>
                </a:solidFill>
                <a:latin typeface="Calibri"/>
              </a:rPr>
              <a:t>a reference set that is internally consistent</a:t>
            </a:r>
          </a:p>
          <a:p>
            <a:pPr algn="l">
              <a:lnSpc>
                <a:spcPts val="1550"/>
              </a:lnSpc>
            </a:pPr>
            <a:r>
              <a:rPr sz="1200" b="0" i="0">
                <a:solidFill>
                  <a:srgbClr val="5F6B67"/>
                </a:solidFill>
                <a:latin typeface="Calibri"/>
              </a:rPr>
              <a:t/>
            </a:r>
          </a:p>
          <a:p>
            <a:pPr algn="l">
              <a:lnSpc>
                <a:spcPts val="1550"/>
              </a:lnSpc>
            </a:pPr>
            <a:r>
              <a:rPr sz="1200" b="0" i="0">
                <a:solidFill>
                  <a:srgbClr val="9C5B2E"/>
                </a:solidFill>
                <a:latin typeface="Calibri"/>
              </a:rPr>
              <a:t>•  </a:t>
            </a:r>
            <a:r>
              <a:rPr sz="1200" b="0" i="0">
                <a:solidFill>
                  <a:srgbClr val="5F6B67"/>
                </a:solidFill>
                <a:latin typeface="Calibri"/>
              </a:rPr>
              <a:t>a reference set distinguishable from the treated set</a:t>
            </a:r>
          </a:p>
          <a:p>
            <a:pPr algn="l">
              <a:lnSpc>
                <a:spcPts val="1550"/>
              </a:lnSpc>
            </a:pPr>
            <a:r>
              <a:rPr sz="1200" b="0" i="0">
                <a:solidFill>
                  <a:srgbClr val="5F6B67"/>
                </a:solidFill>
                <a:latin typeface="Calibri"/>
              </a:rPr>
              <a:t/>
            </a:r>
          </a:p>
          <a:p>
            <a:pPr algn="l">
              <a:lnSpc>
                <a:spcPts val="1550"/>
              </a:lnSpc>
            </a:pPr>
            <a:r>
              <a:rPr sz="1200" b="0" i="0">
                <a:solidFill>
                  <a:srgbClr val="9C5B2E"/>
                </a:solidFill>
                <a:latin typeface="Calibri"/>
              </a:rPr>
              <a:t>•  </a:t>
            </a:r>
            <a:r>
              <a:rPr sz="1200" b="0" i="0">
                <a:solidFill>
                  <a:srgbClr val="5F6B67"/>
                </a:solidFill>
                <a:latin typeface="Calibri"/>
              </a:rPr>
              <a:t>a reference condition that is a plausible target</a:t>
            </a:r>
          </a:p>
        </p:txBody>
      </p:sp>
      <p:sp>
        <p:nvSpPr>
          <p:cNvPr id="11" name="TextBox 10"/>
          <p:cNvSpPr txBox="1"/>
          <p:nvPr/>
        </p:nvSpPr>
        <p:spPr>
          <a:xfrm>
            <a:off x="640080" y="4617720"/>
            <a:ext cx="10881360" cy="822960"/>
          </a:xfrm>
          <a:prstGeom prst="rect">
            <a:avLst/>
          </a:prstGeom>
          <a:noFill/>
        </p:spPr>
        <p:txBody>
          <a:bodyPr wrap="square" anchor="t" lIns="0" rIns="0" tIns="0" bIns="0">
            <a:spAutoFit/>
          </a:bodyPr>
          <a:lstStyle/>
          <a:p>
            <a:pPr algn="l">
              <a:lnSpc>
                <a:spcPts val="1900"/>
              </a:lnSpc>
            </a:pPr>
            <a:r>
              <a:rPr sz="1350" b="0" i="0">
                <a:solidFill>
                  <a:srgbClr val="5F6B67"/>
                </a:solidFill>
                <a:latin typeface="Calibri"/>
              </a:rPr>
              <a:t>The four “No grazing” paddocks were nominated as the reference set. This deck reports what thirty-five years of satellite record says about each of the three requirements, and what follows for the design.</a:t>
            </a:r>
          </a:p>
        </p:txBody>
      </p:sp>
      <p:sp>
        <p:nvSpPr>
          <p:cNvPr id="12" name="TextBox 11"/>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Source: Gayini_project_conversation_history.md §5.3. Template: Dawson et al. 2016, Remote Sensing 8(7), 542.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BEFORE ANY RESULT</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One substitution governs everything that follows</a:t>
            </a:r>
          </a:p>
        </p:txBody>
      </p:sp>
      <p:sp>
        <p:nvSpPr>
          <p:cNvPr id="5" name="TextBox 4"/>
          <p:cNvSpPr txBox="1"/>
          <p:nvPr/>
        </p:nvSpPr>
        <p:spPr>
          <a:xfrm>
            <a:off x="640080" y="1737360"/>
            <a:ext cx="6766560" cy="2377440"/>
          </a:xfrm>
          <a:prstGeom prst="rect">
            <a:avLst/>
          </a:prstGeom>
          <a:noFill/>
        </p:spPr>
        <p:txBody>
          <a:bodyPr wrap="square" anchor="t" lIns="0" rIns="0" tIns="0" bIns="0">
            <a:spAutoFit/>
          </a:bodyPr>
          <a:lstStyle/>
          <a:p>
            <a:pPr algn="l">
              <a:lnSpc>
                <a:spcPts val="2100"/>
              </a:lnSpc>
            </a:pPr>
            <a:r>
              <a:rPr sz="1400" b="0" i="0">
                <a:solidFill>
                  <a:srgbClr val="5F6B67"/>
                </a:solidFill>
                <a:latin typeface="Calibri"/>
              </a:rPr>
              <a:t>Cropping history for Gayini is not recorded anywhere. The paddock table carries five columns reserved for it — cropping_history, land_use_era, irrigation_status, history_source and history_confidence — created deliberately empty when the table was built, and still empty for all 64 paddocks.</a:t>
            </a:r>
          </a:p>
          <a:p>
            <a:pPr algn="l">
              <a:lnSpc>
                <a:spcPts val="2100"/>
              </a:lnSpc>
            </a:pPr>
            <a:r>
              <a:rPr sz="1400" b="0" i="0">
                <a:solidFill>
                  <a:srgbClr val="5F6B67"/>
                </a:solidFill>
                <a:latin typeface="Calibri"/>
              </a:rPr>
              <a:t/>
            </a:r>
          </a:p>
          <a:p>
            <a:pPr algn="l">
              <a:lnSpc>
                <a:spcPts val="2100"/>
              </a:lnSpc>
            </a:pPr>
            <a:r>
              <a:rPr sz="1400" b="0" i="0">
                <a:solidFill>
                  <a:srgbClr val="5F6B67"/>
                </a:solidFill>
                <a:latin typeface="Calibri"/>
              </a:rPr>
              <a:t>The analysis therefore substitutes the grazing treatment layer, which exists, for the land-use history, which does not.</a:t>
            </a:r>
          </a:p>
        </p:txBody>
      </p:sp>
      <p:sp>
        <p:nvSpPr>
          <p:cNvPr id="6" name="Rounded Rectangle 5"/>
          <p:cNvSpPr/>
          <p:nvPr/>
        </p:nvSpPr>
        <p:spPr>
          <a:xfrm>
            <a:off x="7680960" y="1737360"/>
            <a:ext cx="3840480" cy="2148840"/>
          </a:xfrm>
          <a:prstGeom prst="roundRect">
            <a:avLst>
              <a:gd name="adj" fmla="val 3000"/>
            </a:avLst>
          </a:prstGeom>
          <a:solidFill>
            <a:srgbClr val="E4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2011680"/>
            <a:ext cx="3291840" cy="1645920"/>
          </a:xfrm>
          <a:prstGeom prst="rect">
            <a:avLst/>
          </a:prstGeom>
          <a:noFill/>
        </p:spPr>
        <p:txBody>
          <a:bodyPr wrap="square" anchor="t" lIns="0" rIns="0" tIns="0" bIns="0">
            <a:spAutoFit/>
          </a:bodyPr>
          <a:lstStyle/>
          <a:p>
            <a:pPr algn="l">
              <a:lnSpc>
                <a:spcPts val="1900"/>
              </a:lnSpc>
            </a:pPr>
            <a:r>
              <a:rPr sz="1350" b="1" i="0">
                <a:solidFill>
                  <a:srgbClr val="26302E"/>
                </a:solidFill>
                <a:latin typeface="Calibri"/>
              </a:rPr>
              <a:t>Every contrast in this deck is</a:t>
            </a:r>
          </a:p>
          <a:p>
            <a:pPr algn="l">
              <a:lnSpc>
                <a:spcPts val="1900"/>
              </a:lnSpc>
            </a:pPr>
            <a:r>
              <a:rPr sz="1350" b="1" i="0">
                <a:solidFill>
                  <a:srgbClr val="26302E"/>
                </a:solidFill>
                <a:latin typeface="Calibri"/>
              </a:rPr>
              <a:t>not-grazed versus grazed.</a:t>
            </a:r>
          </a:p>
          <a:p>
            <a:pPr algn="l">
              <a:lnSpc>
                <a:spcPts val="1900"/>
              </a:lnSpc>
            </a:pPr>
            <a:r>
              <a:rPr sz="1350" b="1" i="0">
                <a:solidFill>
                  <a:srgbClr val="26302E"/>
                </a:solidFill>
                <a:latin typeface="Calibri"/>
              </a:rPr>
              <a:t/>
            </a:r>
          </a:p>
          <a:p>
            <a:pPr algn="l">
              <a:lnSpc>
                <a:spcPts val="1900"/>
              </a:lnSpc>
            </a:pPr>
            <a:r>
              <a:rPr sz="1350" b="1" i="0">
                <a:solidFill>
                  <a:srgbClr val="26302E"/>
                </a:solidFill>
                <a:latin typeface="Calibri"/>
              </a:rPr>
              <a:t>It is not conserved versus formerly-cropped.</a:t>
            </a:r>
          </a:p>
        </p:txBody>
      </p:sp>
      <p:sp>
        <p:nvSpPr>
          <p:cNvPr id="8" name="Rounded Rectangle 7"/>
          <p:cNvSpPr/>
          <p:nvPr/>
        </p:nvSpPr>
        <p:spPr>
          <a:xfrm>
            <a:off x="640080" y="4434840"/>
            <a:ext cx="10881360" cy="14173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663440"/>
            <a:ext cx="10241280" cy="1005840"/>
          </a:xfrm>
          <a:prstGeom prst="rect">
            <a:avLst/>
          </a:prstGeom>
          <a:noFill/>
        </p:spPr>
        <p:txBody>
          <a:bodyPr wrap="square" anchor="t" lIns="0" rIns="0" tIns="0" bIns="0">
            <a:spAutoFit/>
          </a:bodyPr>
          <a:lstStyle/>
          <a:p>
            <a:pPr algn="l">
              <a:lnSpc>
                <a:spcPts val="1900"/>
              </a:lnSpc>
            </a:pPr>
            <a:r>
              <a:rPr sz="1300" b="1" i="0">
                <a:solidFill>
                  <a:srgbClr val="26302E"/>
                </a:solidFill>
                <a:latin typeface="Calibri"/>
              </a:rPr>
              <a:t>What that costs. </a:t>
            </a:r>
            <a:r>
              <a:rPr sz="1300" b="0" i="0">
                <a:solidFill>
                  <a:srgbClr val="5F6B67"/>
                </a:solidFill>
                <a:latin typeface="Calibri"/>
              </a:rPr>
              <a:t>“No grazing” is a management category, not a verified undisturbed state. A paddock in that category may have been cropped, cleared or irrigated before the satellite record begins, and nothing in the data would show it. What follows is what happens when that assumption is tested against thirty-five years of record.</a:t>
            </a:r>
          </a:p>
        </p:txBody>
      </p:sp>
      <p:sp>
        <p:nvSpPr>
          <p:cNvPr id="10" name="TextBox 9"/>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Source: dim_management_zone, built at T1 Gate B. Five RESERVED columns, NULL on 64 of 64 rows.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THE PROPERTY</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Sixty-four paddocks, four of them ungrazed</a:t>
            </a:r>
          </a:p>
        </p:txBody>
      </p:sp>
      <p:pic>
        <p:nvPicPr>
          <p:cNvPr id="5" name="Picture 4" descr="T1_A_zone_map_named.png"/>
          <p:cNvPicPr>
            <a:picLocks noChangeAspect="1"/>
          </p:cNvPicPr>
          <p:nvPr/>
        </p:nvPicPr>
        <p:blipFill>
          <a:blip r:embed="rId2"/>
          <a:stretch>
            <a:fillRect/>
          </a:stretch>
        </p:blipFill>
        <p:spPr>
          <a:xfrm>
            <a:off x="647700" y="1554480"/>
            <a:ext cx="5699759" cy="4663440"/>
          </a:xfrm>
          <a:prstGeom prst="rect">
            <a:avLst/>
          </a:prstGeom>
        </p:spPr>
      </p:pic>
      <p:sp>
        <p:nvSpPr>
          <p:cNvPr id="6" name="Rounded Rectangle 5"/>
          <p:cNvSpPr/>
          <p:nvPr/>
        </p:nvSpPr>
        <p:spPr>
          <a:xfrm>
            <a:off x="6720840" y="1554480"/>
            <a:ext cx="4800600" cy="466344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0" y="1810512"/>
            <a:ext cx="4160520" cy="320040"/>
          </a:xfrm>
          <a:prstGeom prst="rect">
            <a:avLst/>
          </a:prstGeom>
          <a:noFill/>
        </p:spPr>
        <p:txBody>
          <a:bodyPr wrap="square" anchor="t" lIns="0" rIns="0" tIns="0" bIns="0">
            <a:spAutoFit/>
          </a:bodyPr>
          <a:lstStyle/>
          <a:p>
            <a:pPr algn="l"/>
            <a:r>
              <a:rPr sz="1200" b="1" i="0">
                <a:solidFill>
                  <a:srgbClr val="9C5B2E"/>
                </a:solidFill>
                <a:latin typeface="Calibri"/>
              </a:rPr>
              <a:t>What you are looking at</a:t>
            </a:r>
          </a:p>
        </p:txBody>
      </p:sp>
      <p:sp>
        <p:nvSpPr>
          <p:cNvPr id="8" name="TextBox 7"/>
          <p:cNvSpPr txBox="1"/>
          <p:nvPr/>
        </p:nvSpPr>
        <p:spPr>
          <a:xfrm>
            <a:off x="7040880" y="2240280"/>
            <a:ext cx="4160520" cy="2834640"/>
          </a:xfrm>
          <a:prstGeom prst="rect">
            <a:avLst/>
          </a:prstGeom>
          <a:noFill/>
        </p:spPr>
        <p:txBody>
          <a:bodyPr wrap="square" anchor="t" lIns="0" rIns="0" tIns="0" bIns="0">
            <a:spAutoFit/>
          </a:bodyPr>
          <a:lstStyle/>
          <a:p>
            <a:pPr algn="l">
              <a:lnSpc>
                <a:spcPts val="1500"/>
              </a:lnSpc>
            </a:pPr>
            <a:r>
              <a:rPr sz="1150" b="0" i="0">
                <a:solidFill>
                  <a:srgbClr val="5F6B67"/>
                </a:solidFill>
                <a:latin typeface="Calibri"/>
              </a:rPr>
              <a:t>Every management zone on Gayini, filled by grazing treatment and labelled with its paddock name. Orange is 14-day rotational grazing (60 paddocks). Green is no grazing (4 paddocks): Bala 26ca, 27ca, 28ca and 29ca.</a:t>
            </a:r>
          </a:p>
          <a:p>
            <a:pPr algn="l">
              <a:lnSpc>
                <a:spcPts val="1500"/>
              </a:lnSpc>
            </a:pPr>
            <a:r>
              <a:rPr sz="1150" b="0" i="0">
                <a:solidFill>
                  <a:srgbClr val="5F6B67"/>
                </a:solidFill>
                <a:latin typeface="Calibri"/>
              </a:rPr>
              <a:t/>
            </a:r>
          </a:p>
          <a:p>
            <a:pPr algn="l">
              <a:lnSpc>
                <a:spcPts val="1500"/>
              </a:lnSpc>
            </a:pPr>
            <a:r>
              <a:rPr sz="1150" b="0" i="0">
                <a:solidFill>
                  <a:srgbClr val="5F6B67"/>
                </a:solidFill>
                <a:latin typeface="Calibri"/>
              </a:rPr>
              <a:t>All four carry the Bala name, so the reference set is confounded with property block.</a:t>
            </a:r>
          </a:p>
          <a:p>
            <a:pPr algn="l">
              <a:lnSpc>
                <a:spcPts val="1500"/>
              </a:lnSpc>
            </a:pPr>
            <a:r>
              <a:rPr sz="1150" b="0" i="0">
                <a:solidFill>
                  <a:srgbClr val="5F6B67"/>
                </a:solidFill>
                <a:latin typeface="Calibri"/>
              </a:rPr>
              <a:t/>
            </a:r>
          </a:p>
          <a:p>
            <a:pPr algn="l">
              <a:lnSpc>
                <a:spcPts val="1500"/>
              </a:lnSpc>
            </a:pPr>
            <a:r>
              <a:rPr sz="1150" b="0" i="0">
                <a:solidFill>
                  <a:srgbClr val="5F6B67"/>
                </a:solidFill>
                <a:latin typeface="Calibri"/>
              </a:rPr>
              <a:t>But they are not a block on the ground. 26ca and 27ca sit 3.4 km apart in the east. 28ca is 16 km west, surrounded by Mara paddocks. 29ca is 30 km away in the south-west, surrounded by Dinan paddocks.</a:t>
            </a:r>
          </a:p>
        </p:txBody>
      </p:sp>
      <p:sp>
        <p:nvSpPr>
          <p:cNvPr id="9" name="TextBox 8"/>
          <p:cNvSpPr txBox="1"/>
          <p:nvPr/>
        </p:nvSpPr>
        <p:spPr>
          <a:xfrm>
            <a:off x="7040880" y="5212080"/>
            <a:ext cx="4160520" cy="914400"/>
          </a:xfrm>
          <a:prstGeom prst="rect">
            <a:avLst/>
          </a:prstGeom>
          <a:noFill/>
        </p:spPr>
        <p:txBody>
          <a:bodyPr wrap="square" anchor="t" lIns="0" rIns="0" tIns="0" bIns="0">
            <a:spAutoFit/>
          </a:bodyPr>
          <a:lstStyle/>
          <a:p>
            <a:pPr algn="l">
              <a:lnSpc>
                <a:spcPts val="1350"/>
              </a:lnSpc>
            </a:pPr>
            <a:r>
              <a:rPr sz="1100" b="1" i="0">
                <a:solidFill>
                  <a:srgbClr val="26302E"/>
                </a:solidFill>
                <a:latin typeface="Calibri"/>
              </a:rPr>
              <a:t>Reading this map: </a:t>
            </a:r>
            <a:r>
              <a:rPr sz="1100" b="0" i="0">
                <a:solidFill>
                  <a:srgbClr val="5F6B67"/>
                </a:solidFill>
                <a:latin typeface="Calibri"/>
              </a:rPr>
              <a:t>the shared Bala label is administrative. Whether it also means shared management history is a question for Nari Nari, not something the layer can answer.</a:t>
            </a:r>
          </a:p>
        </p:txBody>
      </p:sp>
      <p:sp>
        <p:nvSpPr>
          <p:cNvPr id="10" name="TextBox 9"/>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Figure T1_A_zone_map_named. Source: management_zones GeoPackage layer joined to dim_management_zone on fid. Support: paddock. Centroid separations computed 28 July, not yet registered.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THE MONITORING NETWORK</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Where the 66 plots actually fall</a:t>
            </a:r>
          </a:p>
        </p:txBody>
      </p:sp>
      <p:pic>
        <p:nvPicPr>
          <p:cNvPr id="5" name="Picture 4" descr="T2_G_plot_paddock_coverage.png"/>
          <p:cNvPicPr>
            <a:picLocks noChangeAspect="1"/>
          </p:cNvPicPr>
          <p:nvPr/>
        </p:nvPicPr>
        <p:blipFill>
          <a:blip r:embed="rId2"/>
          <a:stretch>
            <a:fillRect/>
          </a:stretch>
        </p:blipFill>
        <p:spPr>
          <a:xfrm>
            <a:off x="502920" y="1661160"/>
            <a:ext cx="6675120" cy="4450080"/>
          </a:xfrm>
          <a:prstGeom prst="rect">
            <a:avLst/>
          </a:prstGeom>
        </p:spPr>
      </p:pic>
      <p:sp>
        <p:nvSpPr>
          <p:cNvPr id="6" name="Rounded Rectangle 5"/>
          <p:cNvSpPr/>
          <p:nvPr/>
        </p:nvSpPr>
        <p:spPr>
          <a:xfrm>
            <a:off x="7406640" y="1554480"/>
            <a:ext cx="4114800" cy="466344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79" y="1810512"/>
            <a:ext cx="3474720" cy="320040"/>
          </a:xfrm>
          <a:prstGeom prst="rect">
            <a:avLst/>
          </a:prstGeom>
          <a:noFill/>
        </p:spPr>
        <p:txBody>
          <a:bodyPr wrap="square" anchor="t" lIns="0" rIns="0" tIns="0" bIns="0">
            <a:spAutoFit/>
          </a:bodyPr>
          <a:lstStyle/>
          <a:p>
            <a:pPr algn="l"/>
            <a:r>
              <a:rPr sz="1200" b="1" i="0">
                <a:solidFill>
                  <a:srgbClr val="9C5B2E"/>
                </a:solidFill>
                <a:latin typeface="Calibri"/>
              </a:rPr>
              <a:t>Two things this map settles</a:t>
            </a:r>
          </a:p>
        </p:txBody>
      </p:sp>
      <p:sp>
        <p:nvSpPr>
          <p:cNvPr id="8" name="TextBox 7"/>
          <p:cNvSpPr txBox="1"/>
          <p:nvPr/>
        </p:nvSpPr>
        <p:spPr>
          <a:xfrm>
            <a:off x="7726679" y="2240280"/>
            <a:ext cx="3474720" cy="2788920"/>
          </a:xfrm>
          <a:prstGeom prst="rect">
            <a:avLst/>
          </a:prstGeom>
          <a:noFill/>
        </p:spPr>
        <p:txBody>
          <a:bodyPr wrap="square" anchor="t" lIns="0" rIns="0" tIns="0" bIns="0">
            <a:spAutoFit/>
          </a:bodyPr>
          <a:lstStyle/>
          <a:p>
            <a:pPr algn="l">
              <a:lnSpc>
                <a:spcPts val="1500"/>
              </a:lnSpc>
            </a:pPr>
            <a:r>
              <a:rPr sz="1150" b="0" i="0">
                <a:solidFill>
                  <a:srgbClr val="5F6B67"/>
                </a:solidFill>
                <a:latin typeface="Calibri"/>
              </a:rPr>
              <a:t>Bala 29ca alone holds 13 of the 24 reference monitoring plots — 54%. The ground-truth network's picture of “reference condition” is over half one paddock.</a:t>
            </a:r>
          </a:p>
          <a:p>
            <a:pPr algn="l">
              <a:lnSpc>
                <a:spcPts val="1500"/>
              </a:lnSpc>
            </a:pPr>
            <a:r>
              <a:rPr sz="1150" b="0" i="0">
                <a:solidFill>
                  <a:srgbClr val="5F6B67"/>
                </a:solidFill>
                <a:latin typeface="Calibri"/>
              </a:rPr>
              <a:t/>
            </a:r>
          </a:p>
          <a:p>
            <a:pPr algn="l">
              <a:lnSpc>
                <a:spcPts val="1500"/>
              </a:lnSpc>
            </a:pPr>
            <a:r>
              <a:rPr sz="1150" b="0" i="0">
                <a:solidFill>
                  <a:srgbClr val="5F6B67"/>
                </a:solidFill>
                <a:latin typeface="Calibri"/>
              </a:rPr>
              <a:t>All 15 standard-grazing plots fall on grey ground, outside every management zone. Standard grazing has no polygon in the layer, so it has never been measured as a treatment. That is the reason Task T6 exists.</a:t>
            </a:r>
          </a:p>
          <a:p>
            <a:pPr algn="l">
              <a:lnSpc>
                <a:spcPts val="1500"/>
              </a:lnSpc>
            </a:pPr>
            <a:r>
              <a:rPr sz="1150" b="0" i="0">
                <a:solidFill>
                  <a:srgbClr val="5F6B67"/>
                </a:solidFill>
                <a:latin typeface="Calibri"/>
              </a:rPr>
              <a:t/>
            </a:r>
          </a:p>
          <a:p>
            <a:pPr algn="l">
              <a:lnSpc>
                <a:spcPts val="1500"/>
              </a:lnSpc>
            </a:pPr>
            <a:r>
              <a:rPr sz="1150" b="0" i="0">
                <a:solidFill>
                  <a:srgbClr val="5F6B67"/>
                </a:solidFill>
                <a:latin typeface="Calibri"/>
              </a:rPr>
              <a:t>Three 14-day plots sit just outside a zone edge — 52, 57 and 78 m — and are near-boundary cases, not errors.</a:t>
            </a:r>
          </a:p>
        </p:txBody>
      </p:sp>
      <p:sp>
        <p:nvSpPr>
          <p:cNvPr id="9" name="TextBox 8"/>
          <p:cNvSpPr txBox="1"/>
          <p:nvPr/>
        </p:nvSpPr>
        <p:spPr>
          <a:xfrm>
            <a:off x="7726679" y="5138928"/>
            <a:ext cx="3474720" cy="987552"/>
          </a:xfrm>
          <a:prstGeom prst="rect">
            <a:avLst/>
          </a:prstGeom>
          <a:noFill/>
        </p:spPr>
        <p:txBody>
          <a:bodyPr wrap="square" anchor="t" lIns="0" rIns="0" tIns="0" bIns="0">
            <a:spAutoFit/>
          </a:bodyPr>
          <a:lstStyle/>
          <a:p>
            <a:pPr algn="l">
              <a:lnSpc>
                <a:spcPts val="1350"/>
              </a:lnSpc>
            </a:pPr>
            <a:r>
              <a:rPr sz="1100" b="1" i="0">
                <a:solidFill>
                  <a:srgbClr val="26302E"/>
                </a:solidFill>
                <a:latin typeface="Calibri"/>
              </a:rPr>
              <a:t>Reading this map: </a:t>
            </a:r>
            <a:r>
              <a:rPr sz="1100" b="0" i="0">
                <a:solidFill>
                  <a:srgbClr val="5F6B67"/>
                </a:solidFill>
                <a:latin typeface="Calibri"/>
              </a:rPr>
              <a:t>green dots are reference plots, orange 14-day, red standard grazing; grey fill is property with no management zone at all.</a:t>
            </a:r>
          </a:p>
        </p:txBody>
      </p:sp>
      <p:sp>
        <p:nvSpPr>
          <p:cNvPr id="10" name="TextBox 9"/>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Figure T2_G_plot_paddock_coverage. Source: plot_management_overlay. Support: plot (66 centroids, EPSG:8058).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THE METRIC</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What “the floor” means — and what it does not</a:t>
            </a:r>
          </a:p>
        </p:txBody>
      </p:sp>
      <p:sp>
        <p:nvSpPr>
          <p:cNvPr id="5" name="Rounded Rectangle 4"/>
          <p:cNvSpPr/>
          <p:nvPr/>
        </p:nvSpPr>
        <p:spPr>
          <a:xfrm>
            <a:off x="640080" y="1691640"/>
            <a:ext cx="5349240" cy="29260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65960"/>
            <a:ext cx="4754880" cy="365760"/>
          </a:xfrm>
          <a:prstGeom prst="rect">
            <a:avLst/>
          </a:prstGeom>
          <a:noFill/>
        </p:spPr>
        <p:txBody>
          <a:bodyPr wrap="square" anchor="t" lIns="0" rIns="0" tIns="0" bIns="0">
            <a:spAutoFit/>
          </a:bodyPr>
          <a:lstStyle/>
          <a:p>
            <a:pPr algn="l"/>
            <a:r>
              <a:rPr sz="1300" b="1" i="0">
                <a:solidFill>
                  <a:srgbClr val="9C5B2E"/>
                </a:solidFill>
                <a:latin typeface="Calibri"/>
              </a:rPr>
              <a:t>veg_p05_spatial  —  used throughout this deck</a:t>
            </a:r>
          </a:p>
        </p:txBody>
      </p:sp>
      <p:sp>
        <p:nvSpPr>
          <p:cNvPr id="7" name="TextBox 6"/>
          <p:cNvSpPr txBox="1"/>
          <p:nvPr/>
        </p:nvSpPr>
        <p:spPr>
          <a:xfrm>
            <a:off x="960120" y="2468880"/>
            <a:ext cx="4754880" cy="2011680"/>
          </a:xfrm>
          <a:prstGeom prst="rect">
            <a:avLst/>
          </a:prstGeom>
          <a:noFill/>
        </p:spPr>
        <p:txBody>
          <a:bodyPr wrap="square" anchor="t" lIns="0" rIns="0" tIns="0" bIns="0">
            <a:spAutoFit/>
          </a:bodyPr>
          <a:lstStyle/>
          <a:p>
            <a:pPr algn="l">
              <a:lnSpc>
                <a:spcPts val="1700"/>
              </a:lnSpc>
            </a:pPr>
            <a:r>
              <a:rPr sz="1250" b="0" i="0">
                <a:solidFill>
                  <a:srgbClr val="5F6B67"/>
                </a:solidFill>
                <a:latin typeface="Calibri"/>
              </a:rPr>
              <a:t>Take one paddock in one year. Rank every pixel in it by total vegetation cover. The floor is the level at the 5th percentile — the cover carried by the worst-covered 5% of that paddock's ground.</a:t>
            </a:r>
          </a:p>
          <a:p>
            <a:pPr algn="l">
              <a:lnSpc>
                <a:spcPts val="1700"/>
              </a:lnSpc>
            </a:pPr>
            <a:r>
              <a:rPr sz="1250" b="0" i="0">
                <a:solidFill>
                  <a:srgbClr val="5F6B67"/>
                </a:solidFill>
                <a:latin typeface="Calibri"/>
              </a:rPr>
              <a:t/>
            </a:r>
          </a:p>
          <a:p>
            <a:pPr algn="l">
              <a:lnSpc>
                <a:spcPts val="1700"/>
              </a:lnSpc>
            </a:pPr>
            <a:r>
              <a:rPr sz="1250" b="0" i="0">
                <a:solidFill>
                  <a:srgbClr val="5F6B67"/>
                </a:solidFill>
                <a:latin typeface="Calibri"/>
              </a:rPr>
              <a:t>It measures how patchy a paddock is.</a:t>
            </a:r>
          </a:p>
        </p:txBody>
      </p:sp>
      <p:sp>
        <p:nvSpPr>
          <p:cNvPr id="8" name="Rounded Rectangle 7"/>
          <p:cNvSpPr/>
          <p:nvPr/>
        </p:nvSpPr>
        <p:spPr>
          <a:xfrm>
            <a:off x="6172200" y="1691640"/>
            <a:ext cx="5349240" cy="2926080"/>
          </a:xfrm>
          <a:prstGeom prst="roundRect">
            <a:avLst>
              <a:gd name="adj" fmla="val 3000"/>
            </a:avLst>
          </a:prstGeom>
          <a:solidFill>
            <a:srgbClr val="F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65960"/>
            <a:ext cx="4754880" cy="365760"/>
          </a:xfrm>
          <a:prstGeom prst="rect">
            <a:avLst/>
          </a:prstGeom>
          <a:noFill/>
        </p:spPr>
        <p:txBody>
          <a:bodyPr wrap="square" anchor="t" lIns="0" rIns="0" tIns="0" bIns="0">
            <a:spAutoFit/>
          </a:bodyPr>
          <a:lstStyle/>
          <a:p>
            <a:pPr algn="l"/>
            <a:r>
              <a:rPr sz="1300" b="1" i="0">
                <a:solidFill>
                  <a:srgbClr val="9C5B2E"/>
                </a:solidFill>
                <a:latin typeface="Calibri"/>
              </a:rPr>
              <a:t>census veg_p05  —  a different number entirely</a:t>
            </a:r>
          </a:p>
        </p:txBody>
      </p:sp>
      <p:sp>
        <p:nvSpPr>
          <p:cNvPr id="10" name="TextBox 9"/>
          <p:cNvSpPr txBox="1"/>
          <p:nvPr/>
        </p:nvSpPr>
        <p:spPr>
          <a:xfrm>
            <a:off x="6492240" y="2468880"/>
            <a:ext cx="4754880" cy="2011680"/>
          </a:xfrm>
          <a:prstGeom prst="rect">
            <a:avLst/>
          </a:prstGeom>
          <a:noFill/>
        </p:spPr>
        <p:txBody>
          <a:bodyPr wrap="square" anchor="t" lIns="0" rIns="0" tIns="0" bIns="0">
            <a:spAutoFit/>
          </a:bodyPr>
          <a:lstStyle/>
          <a:p>
            <a:pPr algn="l">
              <a:lnSpc>
                <a:spcPts val="1700"/>
              </a:lnSpc>
            </a:pPr>
            <a:r>
              <a:rPr sz="1250" b="0" i="0">
                <a:solidFill>
                  <a:srgbClr val="5F6B67"/>
                </a:solidFill>
                <a:latin typeface="Calibri"/>
              </a:rPr>
              <a:t>Take one pixel across all 35 years. Rank its yearly values. The census floor is the level at the 5th percentile — the cover that pixel holds 95% of the time.</a:t>
            </a:r>
          </a:p>
          <a:p>
            <a:pPr algn="l">
              <a:lnSpc>
                <a:spcPts val="1700"/>
              </a:lnSpc>
            </a:pPr>
            <a:r>
              <a:rPr sz="1250" b="0" i="0">
                <a:solidFill>
                  <a:srgbClr val="5F6B67"/>
                </a:solidFill>
                <a:latin typeface="Calibri"/>
              </a:rPr>
              <a:t/>
            </a:r>
          </a:p>
          <a:p>
            <a:pPr algn="l">
              <a:lnSpc>
                <a:spcPts val="1700"/>
              </a:lnSpc>
            </a:pPr>
            <a:r>
              <a:rPr sz="1250" b="0" i="0">
                <a:solidFill>
                  <a:srgbClr val="5F6B67"/>
                </a:solidFill>
                <a:latin typeface="Calibri"/>
              </a:rPr>
              <a:t>It measures resilience through drought.</a:t>
            </a:r>
          </a:p>
        </p:txBody>
      </p:sp>
      <p:sp>
        <p:nvSpPr>
          <p:cNvPr id="11" name="Rounded Rectangle 10"/>
          <p:cNvSpPr/>
          <p:nvPr/>
        </p:nvSpPr>
        <p:spPr>
          <a:xfrm>
            <a:off x="640080" y="4846320"/>
            <a:ext cx="10881360" cy="1005840"/>
          </a:xfrm>
          <a:prstGeom prst="roundRect">
            <a:avLst>
              <a:gd name="adj" fmla="val 3000"/>
            </a:avLst>
          </a:prstGeom>
          <a:solidFill>
            <a:srgbClr val="E4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074920"/>
            <a:ext cx="10241280" cy="640080"/>
          </a:xfrm>
          <a:prstGeom prst="rect">
            <a:avLst/>
          </a:prstGeom>
          <a:noFill/>
        </p:spPr>
        <p:txBody>
          <a:bodyPr wrap="square" anchor="t" lIns="0" rIns="0" tIns="0" bIns="0">
            <a:spAutoFit/>
          </a:bodyPr>
          <a:lstStyle/>
          <a:p>
            <a:pPr algn="l">
              <a:lnSpc>
                <a:spcPts val="1900"/>
              </a:lnSpc>
            </a:pPr>
            <a:r>
              <a:rPr sz="1300" b="1" i="0">
                <a:solidFill>
                  <a:srgbClr val="26302E"/>
                </a:solidFill>
                <a:latin typeface="Calibri"/>
              </a:rPr>
              <a:t>These must never appear in the same figure or be compared numerically. </a:t>
            </a:r>
            <a:r>
              <a:rPr sz="1300" b="0" i="0">
                <a:solidFill>
                  <a:srgbClr val="5F6B67"/>
                </a:solidFill>
                <a:latin typeface="Calibri"/>
              </a:rPr>
              <a:t>One collapses across space, the other across time. The column is named veg_p05_spatial specifically so the difference cannot be lost.</a:t>
            </a:r>
          </a:p>
        </p:txBody>
      </p:sp>
      <p:sp>
        <p:nvSpPr>
          <p:cNvPr id="13" name="TextBox 12"/>
          <p:cNvSpPr txBox="1"/>
          <p:nvPr/>
        </p:nvSpPr>
        <p:spPr>
          <a:xfrm>
            <a:off x="640080" y="5989320"/>
            <a:ext cx="10881360" cy="320040"/>
          </a:xfrm>
          <a:prstGeom prst="rect">
            <a:avLst/>
          </a:prstGeom>
          <a:noFill/>
        </p:spPr>
        <p:txBody>
          <a:bodyPr wrap="square" anchor="t" lIns="0" rIns="0" tIns="0" bIns="0">
            <a:spAutoFit/>
          </a:bodyPr>
          <a:lstStyle/>
          <a:p>
            <a:pPr algn="l"/>
            <a:r>
              <a:rPr sz="1150" b="0" i="1">
                <a:solidFill>
                  <a:srgbClr val="8A8378"/>
                </a:solidFill>
                <a:latin typeface="Calibri"/>
              </a:rPr>
              <a:t>The floor was chosen over the mean because the mean sits high and flat and undersells the flood signal.</a:t>
            </a:r>
          </a:p>
        </p:txBody>
      </p:sp>
      <p:sp>
        <p:nvSpPr>
          <p:cNvPr id="14" name="TextBox 13"/>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Definitions per T2 spec Gate B. veg_p05_spatial lives in fact_zone_veg_annual; census veg_p05 in census_by_zone_stratum.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THE FINDING</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Three of the four are indistinguishable from grazed ground</a:t>
            </a:r>
          </a:p>
        </p:txBody>
      </p:sp>
      <p:graphicFrame>
        <p:nvGraphicFramePr>
          <p:cNvPr id="5" name="Chart 4"/>
          <p:cNvGraphicFramePr>
            <a:graphicFrameLocks noGrp="1"/>
          </p:cNvGraphicFramePr>
          <p:nvPr/>
        </p:nvGraphicFramePr>
        <p:xfrm>
          <a:off x="685800" y="1600200"/>
          <a:ext cx="6949440" cy="3749039"/>
        </p:xfrm>
        <a:graphic>
          <a:graphicData uri="http://schemas.openxmlformats.org/drawingml/2006/chart">
            <c:chart xmlns:c="http://schemas.openxmlformats.org/drawingml/2006/chart" r:id="rId2"/>
          </a:graphicData>
        </a:graphic>
      </p:graphicFrame>
      <p:sp>
        <p:nvSpPr>
          <p:cNvPr id="6" name="Rounded Rectangle 5"/>
          <p:cNvSpPr/>
          <p:nvPr/>
        </p:nvSpPr>
        <p:spPr>
          <a:xfrm>
            <a:off x="7955279" y="1691640"/>
            <a:ext cx="3566160" cy="384048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0" y="1920240"/>
            <a:ext cx="3017520" cy="320040"/>
          </a:xfrm>
          <a:prstGeom prst="rect">
            <a:avLst/>
          </a:prstGeom>
          <a:noFill/>
        </p:spPr>
        <p:txBody>
          <a:bodyPr wrap="square" anchor="t" lIns="0" rIns="0" tIns="0" bIns="0">
            <a:spAutoFit/>
          </a:bodyPr>
          <a:lstStyle/>
          <a:p>
            <a:pPr algn="l"/>
            <a:r>
              <a:rPr sz="1200" b="1" i="0">
                <a:solidFill>
                  <a:srgbClr val="9C5B2E"/>
                </a:solidFill>
                <a:latin typeface="Calibri"/>
              </a:rPr>
              <a:t>Without Bala 29ca</a:t>
            </a:r>
          </a:p>
        </p:txBody>
      </p:sp>
      <p:sp>
        <p:nvSpPr>
          <p:cNvPr id="8" name="TextBox 7"/>
          <p:cNvSpPr txBox="1"/>
          <p:nvPr/>
        </p:nvSpPr>
        <p:spPr>
          <a:xfrm>
            <a:off x="8229600" y="2286000"/>
            <a:ext cx="3017520" cy="822960"/>
          </a:xfrm>
          <a:prstGeom prst="rect">
            <a:avLst/>
          </a:prstGeom>
          <a:noFill/>
        </p:spPr>
        <p:txBody>
          <a:bodyPr wrap="square" anchor="t" lIns="0" rIns="0" tIns="0" bIns="0">
            <a:spAutoFit/>
          </a:bodyPr>
          <a:lstStyle/>
          <a:p>
            <a:pPr algn="l"/>
            <a:r>
              <a:rPr sz="3600" b="1" i="0">
                <a:solidFill>
                  <a:srgbClr val="2E6B2E"/>
                </a:solidFill>
                <a:latin typeface="Cambria"/>
              </a:rPr>
              <a:t>1.5 – 3.3 pp</a:t>
            </a:r>
          </a:p>
        </p:txBody>
      </p:sp>
      <p:sp>
        <p:nvSpPr>
          <p:cNvPr id="9" name="TextBox 8"/>
          <p:cNvSpPr txBox="1"/>
          <p:nvPr/>
        </p:nvSpPr>
        <p:spPr>
          <a:xfrm>
            <a:off x="8229600" y="3154680"/>
            <a:ext cx="3017520" cy="1005840"/>
          </a:xfrm>
          <a:prstGeom prst="rect">
            <a:avLst/>
          </a:prstGeom>
          <a:noFill/>
        </p:spPr>
        <p:txBody>
          <a:bodyPr wrap="square" anchor="t" lIns="0" rIns="0" tIns="0" bIns="0">
            <a:spAutoFit/>
          </a:bodyPr>
          <a:lstStyle/>
          <a:p>
            <a:pPr algn="l">
              <a:lnSpc>
                <a:spcPts val="1800"/>
              </a:lnSpc>
            </a:pPr>
            <a:r>
              <a:rPr sz="1300" b="0" i="0">
                <a:solidFill>
                  <a:srgbClr val="5F6B67"/>
                </a:solidFill>
                <a:latin typeface="Calibri"/>
              </a:rPr>
              <a:t>is the entire gap between the reference and grazed paddocks, across thirty-five years.</a:t>
            </a:r>
          </a:p>
        </p:txBody>
      </p:sp>
      <p:sp>
        <p:nvSpPr>
          <p:cNvPr id="10" name="TextBox 9"/>
          <p:cNvSpPr txBox="1"/>
          <p:nvPr/>
        </p:nvSpPr>
        <p:spPr>
          <a:xfrm>
            <a:off x="8229600" y="4343400"/>
            <a:ext cx="3017520" cy="1005840"/>
          </a:xfrm>
          <a:prstGeom prst="rect">
            <a:avLst/>
          </a:prstGeom>
          <a:noFill/>
        </p:spPr>
        <p:txBody>
          <a:bodyPr wrap="square" anchor="t" lIns="0" rIns="0" tIns="0" bIns="0">
            <a:spAutoFit/>
          </a:bodyPr>
          <a:lstStyle/>
          <a:p>
            <a:pPr algn="l">
              <a:lnSpc>
                <a:spcPts val="1800"/>
              </a:lnSpc>
            </a:pPr>
            <a:r>
              <a:rPr sz="1300" b="1" i="0">
                <a:solidFill>
                  <a:srgbClr val="B33A3A"/>
                </a:solidFill>
                <a:latin typeface="Calibri"/>
              </a:rPr>
              <a:t>Bala 29ca alone sits 42 pp below at the start of the record and closes to 18 pp.</a:t>
            </a:r>
          </a:p>
        </p:txBody>
      </p:sp>
      <p:sp>
        <p:nvSpPr>
          <p:cNvPr id="11" name="TextBox 10"/>
          <p:cNvSpPr txBox="1"/>
          <p:nvPr/>
        </p:nvSpPr>
        <p:spPr>
          <a:xfrm>
            <a:off x="685800" y="5623560"/>
            <a:ext cx="6949440" cy="685800"/>
          </a:xfrm>
          <a:prstGeom prst="rect">
            <a:avLst/>
          </a:prstGeom>
          <a:noFill/>
        </p:spPr>
        <p:txBody>
          <a:bodyPr wrap="square" anchor="t" lIns="0" rIns="0" tIns="0" bIns="0">
            <a:spAutoFit/>
          </a:bodyPr>
          <a:lstStyle/>
          <a:p>
            <a:pPr algn="l">
              <a:lnSpc>
                <a:spcPts val="1350"/>
              </a:lnSpc>
            </a:pPr>
            <a:r>
              <a:rPr sz="1050" b="1" i="0">
                <a:solidFill>
                  <a:srgbClr val="26302E"/>
                </a:solidFill>
                <a:latin typeface="Calibri"/>
              </a:rPr>
              <a:t>Reading this chart: </a:t>
            </a:r>
            <a:r>
              <a:rPr sz="1050" b="0" i="0">
                <a:solidFill>
                  <a:srgbClr val="5F6B67"/>
                </a:solidFill>
                <a:latin typeface="Calibri"/>
              </a:rPr>
              <a:t>zero means identical to the grazed median. Each line is one way of defining the reference set. The green line is the three paddocks other than Bala 29ca — it never leaves a 3 pp band in thirty-five years. The grey line, the set as a whole, only departs from it because the red line drags it down.</a:t>
            </a:r>
          </a:p>
        </p:txBody>
      </p:sp>
      <p:sp>
        <p:nvSpPr>
          <p:cNvPr id="12" name="TextBox 11"/>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Source: v_zone_veg_annual, series_variant = mean_of_seasons. Reference = mean of the paddock values; grazed = median across the 60 14-day paddocks taken within each year, then averaged over the period. Support: pixel, aggregated to paddock. Not stratum-controlled — see slide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TIMING</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The gap predates conservation management by thirty years</a:t>
            </a:r>
          </a:p>
        </p:txBody>
      </p:sp>
      <p:sp>
        <p:nvSpPr>
          <p:cNvPr id="5" name="Oval 4"/>
          <p:cNvSpPr/>
          <p:nvPr/>
        </p:nvSpPr>
        <p:spPr>
          <a:xfrm>
            <a:off x="868680" y="1819656"/>
            <a:ext cx="274320" cy="274320"/>
          </a:xfrm>
          <a:prstGeom prst="ellipse">
            <a:avLst/>
          </a:prstGeom>
          <a:solidFill>
            <a:srgbClr val="9A6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783080"/>
            <a:ext cx="1371600" cy="365760"/>
          </a:xfrm>
          <a:prstGeom prst="rect">
            <a:avLst/>
          </a:prstGeom>
          <a:noFill/>
        </p:spPr>
        <p:txBody>
          <a:bodyPr wrap="square" anchor="t" lIns="0" rIns="0" tIns="0" bIns="0">
            <a:spAutoFit/>
          </a:bodyPr>
          <a:lstStyle/>
          <a:p>
            <a:pPr algn="l"/>
            <a:r>
              <a:rPr sz="1400" b="1" i="0">
                <a:solidFill>
                  <a:srgbClr val="26302E"/>
                </a:solidFill>
                <a:latin typeface="Calibri"/>
              </a:rPr>
              <a:t>1988</a:t>
            </a:r>
          </a:p>
        </p:txBody>
      </p:sp>
      <p:sp>
        <p:nvSpPr>
          <p:cNvPr id="7" name="TextBox 6"/>
          <p:cNvSpPr txBox="1"/>
          <p:nvPr/>
        </p:nvSpPr>
        <p:spPr>
          <a:xfrm>
            <a:off x="2834640" y="1783080"/>
            <a:ext cx="4846320" cy="640080"/>
          </a:xfrm>
          <a:prstGeom prst="rect">
            <a:avLst/>
          </a:prstGeom>
          <a:noFill/>
        </p:spPr>
        <p:txBody>
          <a:bodyPr wrap="square" anchor="t" lIns="0" rIns="0" tIns="0" bIns="0">
            <a:spAutoFit/>
          </a:bodyPr>
          <a:lstStyle/>
          <a:p>
            <a:pPr algn="l">
              <a:lnSpc>
                <a:spcPts val="1700"/>
              </a:lnSpc>
            </a:pPr>
            <a:r>
              <a:rPr sz="1250" b="0" i="0">
                <a:solidFill>
                  <a:srgbClr val="5F6B67"/>
                </a:solidFill>
                <a:latin typeface="Calibri"/>
              </a:rPr>
              <a:t>First year of the satellite record</a:t>
            </a:r>
          </a:p>
        </p:txBody>
      </p:sp>
      <p:sp>
        <p:nvSpPr>
          <p:cNvPr id="8" name="Oval 7"/>
          <p:cNvSpPr/>
          <p:nvPr/>
        </p:nvSpPr>
        <p:spPr>
          <a:xfrm>
            <a:off x="868680" y="2606040"/>
            <a:ext cx="274320" cy="274320"/>
          </a:xfrm>
          <a:prstGeom prst="ellipse">
            <a:avLst/>
          </a:prstGeom>
          <a:solidFill>
            <a:srgbClr val="DDD8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569464"/>
            <a:ext cx="1371600" cy="365760"/>
          </a:xfrm>
          <a:prstGeom prst="rect">
            <a:avLst/>
          </a:prstGeom>
          <a:noFill/>
        </p:spPr>
        <p:txBody>
          <a:bodyPr wrap="square" anchor="t" lIns="0" rIns="0" tIns="0" bIns="0">
            <a:spAutoFit/>
          </a:bodyPr>
          <a:lstStyle/>
          <a:p>
            <a:pPr algn="l"/>
            <a:r>
              <a:rPr sz="1400" b="1" i="0">
                <a:solidFill>
                  <a:srgbClr val="26302E"/>
                </a:solidFill>
                <a:latin typeface="Calibri"/>
              </a:rPr>
              <a:t>1988–92</a:t>
            </a:r>
          </a:p>
        </p:txBody>
      </p:sp>
      <p:sp>
        <p:nvSpPr>
          <p:cNvPr id="10" name="TextBox 9"/>
          <p:cNvSpPr txBox="1"/>
          <p:nvPr/>
        </p:nvSpPr>
        <p:spPr>
          <a:xfrm>
            <a:off x="2834640" y="2569464"/>
            <a:ext cx="4846320" cy="640080"/>
          </a:xfrm>
          <a:prstGeom prst="rect">
            <a:avLst/>
          </a:prstGeom>
          <a:noFill/>
        </p:spPr>
        <p:txBody>
          <a:bodyPr wrap="square" anchor="t" lIns="0" rIns="0" tIns="0" bIns="0">
            <a:spAutoFit/>
          </a:bodyPr>
          <a:lstStyle/>
          <a:p>
            <a:pPr algn="l">
              <a:lnSpc>
                <a:spcPts val="1700"/>
              </a:lnSpc>
            </a:pPr>
            <a:r>
              <a:rPr sz="1250" b="0" i="0">
                <a:solidFill>
                  <a:srgbClr val="5F6B67"/>
                </a:solidFill>
                <a:latin typeface="Calibri"/>
              </a:rPr>
              <a:t>The reference set already sits 13.1 pp below the grazed median</a:t>
            </a:r>
          </a:p>
        </p:txBody>
      </p:sp>
      <p:sp>
        <p:nvSpPr>
          <p:cNvPr id="11" name="Oval 10"/>
          <p:cNvSpPr/>
          <p:nvPr/>
        </p:nvSpPr>
        <p:spPr>
          <a:xfrm>
            <a:off x="868680" y="3392424"/>
            <a:ext cx="274320" cy="274320"/>
          </a:xfrm>
          <a:prstGeom prst="ellipse">
            <a:avLst/>
          </a:prstGeom>
          <a:solidFill>
            <a:srgbClr val="9A6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3355848"/>
            <a:ext cx="1371600" cy="365760"/>
          </a:xfrm>
          <a:prstGeom prst="rect">
            <a:avLst/>
          </a:prstGeom>
          <a:noFill/>
        </p:spPr>
        <p:txBody>
          <a:bodyPr wrap="square" anchor="t" lIns="0" rIns="0" tIns="0" bIns="0">
            <a:spAutoFit/>
          </a:bodyPr>
          <a:lstStyle/>
          <a:p>
            <a:pPr algn="l"/>
            <a:r>
              <a:rPr sz="1400" b="1" i="0">
                <a:solidFill>
                  <a:srgbClr val="26302E"/>
                </a:solidFill>
                <a:latin typeface="Calibri"/>
              </a:rPr>
              <a:t>2018–19</a:t>
            </a:r>
          </a:p>
        </p:txBody>
      </p:sp>
      <p:sp>
        <p:nvSpPr>
          <p:cNvPr id="13" name="TextBox 12"/>
          <p:cNvSpPr txBox="1"/>
          <p:nvPr/>
        </p:nvSpPr>
        <p:spPr>
          <a:xfrm>
            <a:off x="2834640" y="3355848"/>
            <a:ext cx="4846320" cy="640080"/>
          </a:xfrm>
          <a:prstGeom prst="rect">
            <a:avLst/>
          </a:prstGeom>
          <a:noFill/>
        </p:spPr>
        <p:txBody>
          <a:bodyPr wrap="square" anchor="t" lIns="0" rIns="0" tIns="0" bIns="0">
            <a:spAutoFit/>
          </a:bodyPr>
          <a:lstStyle/>
          <a:p>
            <a:pPr algn="l">
              <a:lnSpc>
                <a:spcPts val="1700"/>
              </a:lnSpc>
            </a:pPr>
            <a:r>
              <a:rPr sz="1250" b="0" i="0">
                <a:solidFill>
                  <a:srgbClr val="5F6B67"/>
                </a:solidFill>
                <a:latin typeface="Calibri"/>
              </a:rPr>
              <a:t>Conservation management begins</a:t>
            </a:r>
          </a:p>
        </p:txBody>
      </p:sp>
      <p:sp>
        <p:nvSpPr>
          <p:cNvPr id="14" name="Oval 13"/>
          <p:cNvSpPr/>
          <p:nvPr/>
        </p:nvSpPr>
        <p:spPr>
          <a:xfrm>
            <a:off x="868680" y="4178808"/>
            <a:ext cx="274320" cy="274320"/>
          </a:xfrm>
          <a:prstGeom prst="ellipse">
            <a:avLst/>
          </a:prstGeom>
          <a:solidFill>
            <a:srgbClr val="DDD8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4142232"/>
            <a:ext cx="1371600" cy="365760"/>
          </a:xfrm>
          <a:prstGeom prst="rect">
            <a:avLst/>
          </a:prstGeom>
          <a:noFill/>
        </p:spPr>
        <p:txBody>
          <a:bodyPr wrap="square" anchor="t" lIns="0" rIns="0" tIns="0" bIns="0">
            <a:spAutoFit/>
          </a:bodyPr>
          <a:lstStyle/>
          <a:p>
            <a:pPr algn="l"/>
            <a:r>
              <a:rPr sz="1400" b="1" i="0">
                <a:solidFill>
                  <a:srgbClr val="26302E"/>
                </a:solidFill>
                <a:latin typeface="Calibri"/>
              </a:rPr>
              <a:t>2019–22</a:t>
            </a:r>
          </a:p>
        </p:txBody>
      </p:sp>
      <p:sp>
        <p:nvSpPr>
          <p:cNvPr id="16" name="TextBox 15"/>
          <p:cNvSpPr txBox="1"/>
          <p:nvPr/>
        </p:nvSpPr>
        <p:spPr>
          <a:xfrm>
            <a:off x="2834640" y="4142232"/>
            <a:ext cx="4846320" cy="640080"/>
          </a:xfrm>
          <a:prstGeom prst="rect">
            <a:avLst/>
          </a:prstGeom>
          <a:noFill/>
        </p:spPr>
        <p:txBody>
          <a:bodyPr wrap="square" anchor="t" lIns="0" rIns="0" tIns="0" bIns="0">
            <a:spAutoFit/>
          </a:bodyPr>
          <a:lstStyle/>
          <a:p>
            <a:pPr algn="l">
              <a:lnSpc>
                <a:spcPts val="1700"/>
              </a:lnSpc>
            </a:pPr>
            <a:r>
              <a:rPr sz="1250" b="0" i="0">
                <a:solidFill>
                  <a:srgbClr val="5F6B67"/>
                </a:solidFill>
                <a:latin typeface="Calibri"/>
              </a:rPr>
              <a:t>Gap now 5.6 pp — and it has been narrowing since 1988</a:t>
            </a:r>
          </a:p>
        </p:txBody>
      </p:sp>
      <p:sp>
        <p:nvSpPr>
          <p:cNvPr id="17" name="Rounded Rectangle 16"/>
          <p:cNvSpPr/>
          <p:nvPr/>
        </p:nvSpPr>
        <p:spPr>
          <a:xfrm>
            <a:off x="8138160" y="1783080"/>
            <a:ext cx="3383280" cy="2331720"/>
          </a:xfrm>
          <a:prstGeom prst="roundRect">
            <a:avLst>
              <a:gd name="adj" fmla="val 3000"/>
            </a:avLst>
          </a:prstGeom>
          <a:solidFill>
            <a:srgbClr val="F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2103120"/>
            <a:ext cx="2834640" cy="731520"/>
          </a:xfrm>
          <a:prstGeom prst="rect">
            <a:avLst/>
          </a:prstGeom>
          <a:noFill/>
        </p:spPr>
        <p:txBody>
          <a:bodyPr wrap="square" anchor="t" lIns="0" rIns="0" tIns="0" bIns="0">
            <a:spAutoFit/>
          </a:bodyPr>
          <a:lstStyle/>
          <a:p>
            <a:pPr algn="l"/>
            <a:r>
              <a:rPr sz="3000" b="1" i="0">
                <a:solidFill>
                  <a:srgbClr val="8A5F1E"/>
                </a:solidFill>
                <a:latin typeface="Cambria"/>
              </a:rPr>
              <a:t>30 years</a:t>
            </a:r>
          </a:p>
        </p:txBody>
      </p:sp>
      <p:sp>
        <p:nvSpPr>
          <p:cNvPr id="19" name="TextBox 18"/>
          <p:cNvSpPr txBox="1"/>
          <p:nvPr/>
        </p:nvSpPr>
        <p:spPr>
          <a:xfrm>
            <a:off x="8458200" y="2926080"/>
            <a:ext cx="2834640" cy="1005840"/>
          </a:xfrm>
          <a:prstGeom prst="rect">
            <a:avLst/>
          </a:prstGeom>
          <a:noFill/>
        </p:spPr>
        <p:txBody>
          <a:bodyPr wrap="square" anchor="t" lIns="0" rIns="0" tIns="0" bIns="0">
            <a:spAutoFit/>
          </a:bodyPr>
          <a:lstStyle/>
          <a:p>
            <a:pPr algn="l">
              <a:lnSpc>
                <a:spcPts val="1700"/>
              </a:lnSpc>
            </a:pPr>
            <a:r>
              <a:rPr sz="1250" b="0" i="0">
                <a:solidFill>
                  <a:srgbClr val="5F6B67"/>
                </a:solidFill>
                <a:latin typeface="Calibri"/>
              </a:rPr>
              <a:t>between the gap appearing and the management that was meant to explain it.</a:t>
            </a:r>
          </a:p>
        </p:txBody>
      </p:sp>
      <p:sp>
        <p:nvSpPr>
          <p:cNvPr id="20" name="Rounded Rectangle 19"/>
          <p:cNvSpPr/>
          <p:nvPr/>
        </p:nvSpPr>
        <p:spPr>
          <a:xfrm>
            <a:off x="640080" y="5120640"/>
            <a:ext cx="10881360" cy="105156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349240"/>
            <a:ext cx="10241280" cy="685800"/>
          </a:xfrm>
          <a:prstGeom prst="rect">
            <a:avLst/>
          </a:prstGeom>
          <a:noFill/>
        </p:spPr>
        <p:txBody>
          <a:bodyPr wrap="square" anchor="t" lIns="0" rIns="0" tIns="0" bIns="0">
            <a:spAutoFit/>
          </a:bodyPr>
          <a:lstStyle/>
          <a:p>
            <a:pPr algn="l">
              <a:lnSpc>
                <a:spcPts val="1900"/>
              </a:lnSpc>
            </a:pPr>
            <a:r>
              <a:rPr sz="1300" b="1" i="0">
                <a:solidFill>
                  <a:srgbClr val="26302E"/>
                </a:solidFill>
                <a:latin typeface="Calibri"/>
              </a:rPr>
              <a:t>The convergence predates the intervention too. </a:t>
            </a:r>
            <a:r>
              <a:rPr sz="1300" b="0" i="0">
                <a:solidFill>
                  <a:srgbClr val="5F6B67"/>
                </a:solidFill>
                <a:latin typeface="Calibri"/>
              </a:rPr>
              <a:t>The gap narrows monotonically from 1988 onward — −13.1, −11.4, −7.9, −5.7, −5.6 pp. Attributing either the gap or its closure to conservation management would be wrong by three decades.</a:t>
            </a:r>
          </a:p>
        </p:txBody>
      </p:sp>
      <p:sp>
        <p:nvSpPr>
          <p:cNvPr id="22" name="TextBox 21"/>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Source: v_zone_veg_annual, five-period split. Support: pixel, aggregated to paddock.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THE RECORD</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Thirty-five years, paddock by paddock</a:t>
            </a:r>
          </a:p>
        </p:txBody>
      </p:sp>
      <p:pic>
        <p:nvPicPr>
          <p:cNvPr id="5" name="Picture 4" descr="T2_E_paddock_trajectories.png"/>
          <p:cNvPicPr>
            <a:picLocks noChangeAspect="1"/>
          </p:cNvPicPr>
          <p:nvPr/>
        </p:nvPicPr>
        <p:blipFill>
          <a:blip r:embed="rId2"/>
          <a:stretch>
            <a:fillRect/>
          </a:stretch>
        </p:blipFill>
        <p:spPr>
          <a:xfrm>
            <a:off x="1889760" y="1554480"/>
            <a:ext cx="8427720" cy="3611880"/>
          </a:xfrm>
          <a:prstGeom prst="rect">
            <a:avLst/>
          </a:prstGeom>
        </p:spPr>
      </p:pic>
      <p:sp>
        <p:nvSpPr>
          <p:cNvPr id="6" name="TextBox 5"/>
          <p:cNvSpPr txBox="1"/>
          <p:nvPr/>
        </p:nvSpPr>
        <p:spPr>
          <a:xfrm>
            <a:off x="640080" y="5285232"/>
            <a:ext cx="10881360" cy="960120"/>
          </a:xfrm>
          <a:prstGeom prst="rect">
            <a:avLst/>
          </a:prstGeom>
          <a:noFill/>
        </p:spPr>
        <p:txBody>
          <a:bodyPr wrap="square" anchor="t" lIns="0" rIns="0" tIns="0" bIns="0">
            <a:spAutoFit/>
          </a:bodyPr>
          <a:lstStyle/>
          <a:p>
            <a:pPr algn="l">
              <a:lnSpc>
                <a:spcPts val="1350"/>
              </a:lnSpc>
            </a:pPr>
            <a:r>
              <a:rPr sz="1000" b="1" i="0">
                <a:solidFill>
                  <a:srgbClr val="26302E"/>
                </a:solidFill>
                <a:latin typeface="Calibri"/>
              </a:rPr>
              <a:t>Reading this chart: </a:t>
            </a:r>
            <a:r>
              <a:rPr sz="1000" b="0" i="0">
                <a:solidFill>
                  <a:srgbClr val="5F6B67"/>
                </a:solidFill>
                <a:latin typeface="Calibri"/>
              </a:rPr>
              <a:t>each coloured line is one reference paddock, never pooled. The grey band is the middle half of the 60 grazed paddocks with their median through it, so a reference line inside the band is behaving like ordinary grazed ground. Blue stripes are the wettest years. A paddock spanning several communities appears in each panel it occupies — Bala 29ca reads 29, 67 and 35 across its three, which a single label would hide. In Inland Floodplain all four reference paddocks sit inside the band for the whole record. In Aeolian and Riverine, Bala 29ca is the purple line well below everything else, climbing toward the band over thirty-five years.</a:t>
            </a:r>
          </a:p>
        </p:txBody>
      </p:sp>
      <p:sp>
        <p:nvSpPr>
          <p:cNvPr id="7" name="TextBox 6"/>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Figure T2_E_paddock_trajectories. Source: fact_zone_community_veg_annual, mean_of_seasons, min 30 px/cell. Support: pixel, paddock × community × year.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WHAT KIND OF DIFFERENCE</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Same average cover, much patchier ground</a:t>
            </a:r>
          </a:p>
        </p:txBody>
      </p:sp>
      <p:graphicFrame>
        <p:nvGraphicFramePr>
          <p:cNvPr id="5" name="Chart 4"/>
          <p:cNvGraphicFramePr>
            <a:graphicFrameLocks noGrp="1"/>
          </p:cNvGraphicFramePr>
          <p:nvPr/>
        </p:nvGraphicFramePr>
        <p:xfrm>
          <a:off x="685800" y="1645920"/>
          <a:ext cx="6903720" cy="3703320"/>
        </p:xfrm>
        <a:graphic>
          <a:graphicData uri="http://schemas.openxmlformats.org/drawingml/2006/chart">
            <c:chart xmlns:c="http://schemas.openxmlformats.org/drawingml/2006/chart" r:id="rId2"/>
          </a:graphicData>
        </a:graphic>
      </p:graphicFrame>
      <p:sp>
        <p:nvSpPr>
          <p:cNvPr id="6" name="Rounded Rectangle 5"/>
          <p:cNvSpPr/>
          <p:nvPr/>
        </p:nvSpPr>
        <p:spPr>
          <a:xfrm>
            <a:off x="7863840" y="1737360"/>
            <a:ext cx="3657600" cy="3749039"/>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0" y="1965960"/>
            <a:ext cx="3108960" cy="822960"/>
          </a:xfrm>
          <a:prstGeom prst="rect">
            <a:avLst/>
          </a:prstGeom>
          <a:noFill/>
        </p:spPr>
        <p:txBody>
          <a:bodyPr wrap="square" anchor="t" lIns="0" rIns="0" tIns="0" bIns="0">
            <a:spAutoFit/>
          </a:bodyPr>
          <a:lstStyle/>
          <a:p>
            <a:pPr algn="l">
              <a:lnSpc>
                <a:spcPts val="2500"/>
              </a:lnSpc>
            </a:pPr>
            <a:r>
              <a:rPr sz="1900" b="1" i="0">
                <a:solidFill>
                  <a:srgbClr val="26302E"/>
                </a:solidFill>
                <a:latin typeface="Cambria"/>
              </a:rPr>
              <a:t>Not less vegetated — more uneven</a:t>
            </a:r>
          </a:p>
        </p:txBody>
      </p:sp>
      <p:sp>
        <p:nvSpPr>
          <p:cNvPr id="8" name="TextBox 7"/>
          <p:cNvSpPr txBox="1"/>
          <p:nvPr/>
        </p:nvSpPr>
        <p:spPr>
          <a:xfrm>
            <a:off x="8138160" y="2880360"/>
            <a:ext cx="3108960" cy="2514600"/>
          </a:xfrm>
          <a:prstGeom prst="rect">
            <a:avLst/>
          </a:prstGeom>
          <a:noFill/>
        </p:spPr>
        <p:txBody>
          <a:bodyPr wrap="square" anchor="t" lIns="0" rIns="0" tIns="0" bIns="0">
            <a:spAutoFit/>
          </a:bodyPr>
          <a:lstStyle/>
          <a:p>
            <a:pPr algn="l">
              <a:lnSpc>
                <a:spcPts val="1700"/>
              </a:lnSpc>
            </a:pPr>
            <a:r>
              <a:rPr sz="1250" b="0" i="0">
                <a:solidFill>
                  <a:srgbClr val="5F6B67"/>
                </a:solidFill>
                <a:latin typeface="Calibri"/>
              </a:rPr>
              <a:t>On mean cover the reference paddocks match grazed almost exactly, and in Inland Floodplain sit slightly above.</a:t>
            </a:r>
          </a:p>
          <a:p>
            <a:pPr algn="l">
              <a:lnSpc>
                <a:spcPts val="1700"/>
              </a:lnSpc>
            </a:pPr>
            <a:r>
              <a:rPr sz="1250" b="0" i="0">
                <a:solidFill>
                  <a:srgbClr val="5F6B67"/>
                </a:solidFill>
                <a:latin typeface="Calibri"/>
              </a:rPr>
              <a:t/>
            </a:r>
          </a:p>
          <a:p>
            <a:pPr algn="l">
              <a:lnSpc>
                <a:spcPts val="1700"/>
              </a:lnSpc>
            </a:pPr>
            <a:r>
              <a:rPr sz="1250" b="0" i="0">
                <a:solidFill>
                  <a:srgbClr val="5F6B67"/>
                </a:solidFill>
                <a:latin typeface="Calibri"/>
              </a:rPr>
              <a:t>The whole deficit is in the floor — the worst-covered 5% of ground.</a:t>
            </a:r>
          </a:p>
          <a:p>
            <a:pPr algn="l">
              <a:lnSpc>
                <a:spcPts val="1700"/>
              </a:lnSpc>
            </a:pPr>
            <a:r>
              <a:rPr sz="1250" b="0" i="0">
                <a:solidFill>
                  <a:srgbClr val="5F6B67"/>
                </a:solidFill>
                <a:latin typeface="Calibri"/>
              </a:rPr>
              <a:t/>
            </a:r>
          </a:p>
          <a:p>
            <a:pPr algn="l">
              <a:lnSpc>
                <a:spcPts val="1700"/>
              </a:lnSpc>
            </a:pPr>
            <a:r>
              <a:rPr sz="1250" b="0" i="0">
                <a:solidFill>
                  <a:srgbClr val="5F6B67"/>
                </a:solidFill>
                <a:latin typeface="Calibri"/>
              </a:rPr>
              <a:t>So they carry more bare ground while matching grazed everywhere else.</a:t>
            </a:r>
          </a:p>
        </p:txBody>
      </p:sp>
      <p:sp>
        <p:nvSpPr>
          <p:cNvPr id="9" name="TextBox 8"/>
          <p:cNvSpPr txBox="1"/>
          <p:nvPr/>
        </p:nvSpPr>
        <p:spPr>
          <a:xfrm>
            <a:off x="685800" y="5577840"/>
            <a:ext cx="6903720" cy="594360"/>
          </a:xfrm>
          <a:prstGeom prst="rect">
            <a:avLst/>
          </a:prstGeom>
          <a:noFill/>
        </p:spPr>
        <p:txBody>
          <a:bodyPr wrap="square" anchor="t" lIns="0" rIns="0" tIns="0" bIns="0">
            <a:spAutoFit/>
          </a:bodyPr>
          <a:lstStyle/>
          <a:p>
            <a:pPr algn="l">
              <a:lnSpc>
                <a:spcPts val="1350"/>
              </a:lnSpc>
            </a:pPr>
            <a:r>
              <a:rPr sz="1050" b="1" i="0">
                <a:solidFill>
                  <a:srgbClr val="26302E"/>
                </a:solidFill>
                <a:latin typeface="Calibri"/>
              </a:rPr>
              <a:t>Reading this chart: </a:t>
            </a:r>
            <a:r>
              <a:rPr sz="1050" b="0" i="0">
                <a:solidFill>
                  <a:srgbClr val="5F6B67"/>
                </a:solidFill>
                <a:latin typeface="Calibri"/>
              </a:rPr>
              <a:t>both bars are reference minus grazed, so zero means identical. Matching on the average and not on the tail means the cover is distributed differently, not that there is less of it.</a:t>
            </a:r>
          </a:p>
        </p:txBody>
      </p:sp>
      <p:sp>
        <p:nvSpPr>
          <p:cNvPr id="10" name="TextBox 9"/>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Source: v_three_arm_gap_decomposition, community roll-up, all years. Support: pixel. Landsat fractional cover measures cover, not condition.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THE SAME CONTRAST, EVERY ARM</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On the mean the arms track each other</a:t>
            </a:r>
          </a:p>
        </p:txBody>
      </p:sp>
      <p:pic>
        <p:nvPicPr>
          <p:cNvPr id="5" name="Picture 4" descr="T6_B_three_arm_mean.png"/>
          <p:cNvPicPr>
            <a:picLocks noChangeAspect="1"/>
          </p:cNvPicPr>
          <p:nvPr/>
        </p:nvPicPr>
        <p:blipFill>
          <a:blip r:embed="rId2"/>
          <a:stretch>
            <a:fillRect/>
          </a:stretch>
        </p:blipFill>
        <p:spPr>
          <a:xfrm>
            <a:off x="952500" y="1554480"/>
            <a:ext cx="6736080" cy="4663440"/>
          </a:xfrm>
          <a:prstGeom prst="rect">
            <a:avLst/>
          </a:prstGeom>
        </p:spPr>
      </p:pic>
      <p:sp>
        <p:nvSpPr>
          <p:cNvPr id="6" name="Rounded Rectangle 5"/>
          <p:cNvSpPr/>
          <p:nvPr/>
        </p:nvSpPr>
        <p:spPr>
          <a:xfrm>
            <a:off x="8321040" y="1554480"/>
            <a:ext cx="3200400" cy="466344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0" y="1828800"/>
            <a:ext cx="2651760" cy="1737360"/>
          </a:xfrm>
          <a:prstGeom prst="rect">
            <a:avLst/>
          </a:prstGeom>
          <a:noFill/>
        </p:spPr>
        <p:txBody>
          <a:bodyPr wrap="square" anchor="t" lIns="0" rIns="0" tIns="0" bIns="0">
            <a:spAutoFit/>
          </a:bodyPr>
          <a:lstStyle/>
          <a:p>
            <a:pPr algn="l">
              <a:lnSpc>
                <a:spcPts val="1350"/>
              </a:lnSpc>
            </a:pPr>
            <a:r>
              <a:rPr sz="1100" b="1" i="0">
                <a:solidFill>
                  <a:srgbClr val="26302E"/>
                </a:solidFill>
                <a:latin typeface="Calibri"/>
              </a:rPr>
              <a:t>Reading this chart: </a:t>
            </a:r>
            <a:r>
              <a:rPr sz="1100" b="0" i="0">
                <a:solidFill>
                  <a:srgbClr val="5F6B67"/>
                </a:solidFill>
                <a:latin typeface="Calibri"/>
              </a:rPr>
              <a:t>mean total cover for each management arm (coloured line) against the middle half of the 14-day grazed paddocks (grey band), by community.</a:t>
            </a:r>
          </a:p>
        </p:txBody>
      </p:sp>
      <p:sp>
        <p:nvSpPr>
          <p:cNvPr id="8" name="TextBox 7"/>
          <p:cNvSpPr txBox="1"/>
          <p:nvPr/>
        </p:nvSpPr>
        <p:spPr>
          <a:xfrm>
            <a:off x="8595360" y="3657600"/>
            <a:ext cx="2651760" cy="2331720"/>
          </a:xfrm>
          <a:prstGeom prst="rect">
            <a:avLst/>
          </a:prstGeom>
          <a:noFill/>
        </p:spPr>
        <p:txBody>
          <a:bodyPr wrap="square" anchor="t" lIns="0" rIns="0" tIns="0" bIns="0">
            <a:spAutoFit/>
          </a:bodyPr>
          <a:lstStyle/>
          <a:p>
            <a:pPr algn="l">
              <a:lnSpc>
                <a:spcPts val="1450"/>
              </a:lnSpc>
            </a:pPr>
            <a:r>
              <a:rPr sz="1100" b="0" i="0">
                <a:solidFill>
                  <a:srgbClr val="5F6B67"/>
                </a:solidFill>
                <a:latin typeface="Calibri"/>
              </a:rPr>
              <a:t>Every arm sits inside or close to the band for the whole record, and the deficits are small — between −5.5 and +3.3 pp.</a:t>
            </a:r>
          </a:p>
          <a:p>
            <a:pPr algn="l">
              <a:lnSpc>
                <a:spcPts val="1450"/>
              </a:lnSpc>
            </a:pPr>
            <a:r>
              <a:rPr sz="1100" b="0" i="0">
                <a:solidFill>
                  <a:srgbClr val="5F6B67"/>
                </a:solidFill>
                <a:latin typeface="Calibri"/>
              </a:rPr>
              <a:t/>
            </a:r>
          </a:p>
          <a:p>
            <a:pPr algn="l">
              <a:lnSpc>
                <a:spcPts val="1450"/>
              </a:lnSpc>
            </a:pPr>
            <a:r>
              <a:rPr sz="1100" b="0" i="0">
                <a:solidFill>
                  <a:srgbClr val="5F6B67"/>
                </a:solidFill>
                <a:latin typeface="Calibri"/>
              </a:rPr>
              <a:t>Compare the next slide, the identical figure for the floor. The arms separate there and not here. That contrast is why the floor was chosen.</a:t>
            </a:r>
          </a:p>
        </p:txBody>
      </p:sp>
      <p:sp>
        <p:nvSpPr>
          <p:cNvPr id="9" name="TextBox 8"/>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Figure T6_B_three_arm_mean. Source: fact_three_arm_stratum_veg_annual. Support: pixel, arm × community × band × year. Deficits are within-stratum, so wetness is controlled.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GRAZING INTENSITY</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A third arm, and it does not order the way degradation predicts</a:t>
            </a:r>
          </a:p>
        </p:txBody>
      </p:sp>
      <p:pic>
        <p:nvPicPr>
          <p:cNvPr id="5" name="Picture 4" descr="T6_A_three_arm_grid.png"/>
          <p:cNvPicPr>
            <a:picLocks noChangeAspect="1"/>
          </p:cNvPicPr>
          <p:nvPr/>
        </p:nvPicPr>
        <p:blipFill>
          <a:blip r:embed="rId2"/>
          <a:stretch>
            <a:fillRect/>
          </a:stretch>
        </p:blipFill>
        <p:spPr>
          <a:xfrm>
            <a:off x="952500" y="1554480"/>
            <a:ext cx="6736080" cy="4663440"/>
          </a:xfrm>
          <a:prstGeom prst="rect">
            <a:avLst/>
          </a:prstGeom>
        </p:spPr>
      </p:pic>
      <p:sp>
        <p:nvSpPr>
          <p:cNvPr id="6" name="Rounded Rectangle 5"/>
          <p:cNvSpPr/>
          <p:nvPr/>
        </p:nvSpPr>
        <p:spPr>
          <a:xfrm>
            <a:off x="8321040" y="1554480"/>
            <a:ext cx="3200400" cy="466344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0" y="1828800"/>
            <a:ext cx="2651760" cy="868680"/>
          </a:xfrm>
          <a:prstGeom prst="rect">
            <a:avLst/>
          </a:prstGeom>
          <a:noFill/>
        </p:spPr>
        <p:txBody>
          <a:bodyPr wrap="square" anchor="t" lIns="0" rIns="0" tIns="0" bIns="0">
            <a:spAutoFit/>
          </a:bodyPr>
          <a:lstStyle/>
          <a:p>
            <a:pPr algn="l">
              <a:lnSpc>
                <a:spcPts val="1350"/>
              </a:lnSpc>
            </a:pPr>
            <a:r>
              <a:rPr sz="1100" b="1" i="0">
                <a:solidFill>
                  <a:srgbClr val="26302E"/>
                </a:solidFill>
                <a:latin typeface="Calibri"/>
              </a:rPr>
              <a:t>Reading this chart: </a:t>
            </a:r>
            <a:r>
              <a:rPr sz="1100" b="0" i="0">
                <a:solidFill>
                  <a:srgbClr val="5F6B67"/>
                </a:solidFill>
                <a:latin typeface="Calibri"/>
              </a:rPr>
              <a:t>the same layout as the previous slide, but for the floor.</a:t>
            </a:r>
          </a:p>
        </p:txBody>
      </p:sp>
      <p:sp>
        <p:nvSpPr>
          <p:cNvPr id="8" name="TextBox 7"/>
          <p:cNvSpPr txBox="1"/>
          <p:nvPr/>
        </p:nvSpPr>
        <p:spPr>
          <a:xfrm>
            <a:off x="8595360" y="2788920"/>
            <a:ext cx="2651760" cy="3200400"/>
          </a:xfrm>
          <a:prstGeom prst="rect">
            <a:avLst/>
          </a:prstGeom>
          <a:noFill/>
        </p:spPr>
        <p:txBody>
          <a:bodyPr wrap="square" anchor="t" lIns="0" rIns="0" tIns="0" bIns="0">
            <a:spAutoFit/>
          </a:bodyPr>
          <a:lstStyle/>
          <a:p>
            <a:pPr algn="l">
              <a:lnSpc>
                <a:spcPts val="1450"/>
              </a:lnSpc>
            </a:pPr>
            <a:r>
              <a:rPr sz="1100" b="0" i="0">
                <a:solidFill>
                  <a:srgbClr val="5F6B67"/>
                </a:solidFill>
                <a:latin typeface="Calibri"/>
              </a:rPr>
              <a:t>Top row: the four ungrazed paddocks. Middle: the whole unzoned area, inferred to be standard grazing. Bottom: only the part of it containing standard-grazing plots.</a:t>
            </a:r>
          </a:p>
          <a:p>
            <a:pPr algn="l">
              <a:lnSpc>
                <a:spcPts val="1450"/>
              </a:lnSpc>
            </a:pPr>
            <a:r>
              <a:rPr sz="1100" b="0" i="0">
                <a:solidFill>
                  <a:srgbClr val="5F6B67"/>
                </a:solidFill>
                <a:latin typeface="Calibri"/>
              </a:rPr>
              <a:t/>
            </a:r>
          </a:p>
          <a:p>
            <a:pPr algn="l">
              <a:lnSpc>
                <a:spcPts val="1450"/>
              </a:lnSpc>
            </a:pPr>
            <a:r>
              <a:rPr sz="1100" b="0" i="0">
                <a:solidFill>
                  <a:srgbClr val="5F6B67"/>
                </a:solidFill>
                <a:latin typeface="Calibri"/>
              </a:rPr>
              <a:t>If heavier grazing degraded the floor, the lower two rows would sit below the grey band. They sit at or above it in 6 of 9 strata, and the plot-confirmed subset in 8 of 9.</a:t>
            </a:r>
          </a:p>
          <a:p>
            <a:pPr algn="l">
              <a:lnSpc>
                <a:spcPts val="1450"/>
              </a:lnSpc>
            </a:pPr>
            <a:r>
              <a:rPr sz="1100" b="0" i="0">
                <a:solidFill>
                  <a:srgbClr val="5F6B67"/>
                </a:solidFill>
                <a:latin typeface="Calibri"/>
              </a:rPr>
              <a:t/>
            </a:r>
          </a:p>
          <a:p>
            <a:pPr algn="l">
              <a:lnSpc>
                <a:spcPts val="1450"/>
              </a:lnSpc>
            </a:pPr>
            <a:r>
              <a:rPr sz="1100" b="0" i="0">
                <a:solidFill>
                  <a:srgbClr val="5F6B67"/>
                </a:solidFill>
                <a:latin typeface="Calibri"/>
              </a:rPr>
              <a:t>The ungrazed row is the one below the band.</a:t>
            </a:r>
          </a:p>
        </p:txBody>
      </p:sp>
      <p:sp>
        <p:nvSpPr>
          <p:cNvPr id="9" name="TextBox 8"/>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Figure T6_A_three_arm_grid. Source: fact_three_arm_stratum_veg_annual. Support: pixel. The unzoned arm is inferred from plot locations (8 of 15 plots), not confirmed.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TWO READINGS</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The data cannot choose between them</a:t>
            </a:r>
          </a:p>
        </p:txBody>
      </p:sp>
      <p:sp>
        <p:nvSpPr>
          <p:cNvPr id="5" name="Rounded Rectangle 4"/>
          <p:cNvSpPr/>
          <p:nvPr/>
        </p:nvSpPr>
        <p:spPr>
          <a:xfrm>
            <a:off x="640080" y="1691640"/>
            <a:ext cx="5349240" cy="32461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65960"/>
            <a:ext cx="4754880" cy="365760"/>
          </a:xfrm>
          <a:prstGeom prst="rect">
            <a:avLst/>
          </a:prstGeom>
          <a:noFill/>
        </p:spPr>
        <p:txBody>
          <a:bodyPr wrap="square" anchor="t" lIns="0" rIns="0" tIns="0" bIns="0">
            <a:spAutoFit/>
          </a:bodyPr>
          <a:lstStyle/>
          <a:p>
            <a:pPr algn="l"/>
            <a:r>
              <a:rPr sz="1250" b="1" i="0">
                <a:solidFill>
                  <a:srgbClr val="9C5B2E"/>
                </a:solidFill>
                <a:latin typeface="Calibri"/>
              </a:rPr>
              <a:t>Reading one</a:t>
            </a:r>
          </a:p>
        </p:txBody>
      </p:sp>
      <p:sp>
        <p:nvSpPr>
          <p:cNvPr id="7" name="TextBox 6"/>
          <p:cNvSpPr txBox="1"/>
          <p:nvPr/>
        </p:nvSpPr>
        <p:spPr>
          <a:xfrm>
            <a:off x="960120" y="2423160"/>
            <a:ext cx="4754880" cy="2286000"/>
          </a:xfrm>
          <a:prstGeom prst="rect">
            <a:avLst/>
          </a:prstGeom>
          <a:noFill/>
        </p:spPr>
        <p:txBody>
          <a:bodyPr wrap="square" anchor="t" lIns="0" rIns="0" tIns="0" bIns="0">
            <a:spAutoFit/>
          </a:bodyPr>
          <a:lstStyle/>
          <a:p>
            <a:pPr algn="l">
              <a:lnSpc>
                <a:spcPts val="1700"/>
              </a:lnSpc>
            </a:pPr>
            <a:r>
              <a:rPr sz="1250" b="0" i="0">
                <a:solidFill>
                  <a:srgbClr val="5F6B67"/>
                </a:solidFill>
                <a:latin typeface="Calibri"/>
              </a:rPr>
              <a:t>Grazing intensity does not register in the floor at all. The ordering between arms is noise, and the floor is set by something else — principally where a paddock sits on the wetness gradient.</a:t>
            </a:r>
          </a:p>
          <a:p>
            <a:pPr algn="l">
              <a:lnSpc>
                <a:spcPts val="1700"/>
              </a:lnSpc>
            </a:pPr>
            <a:r>
              <a:rPr sz="1250" b="0" i="0">
                <a:solidFill>
                  <a:srgbClr val="5F6B67"/>
                </a:solidFill>
                <a:latin typeface="Calibri"/>
              </a:rPr>
              <a:t/>
            </a:r>
          </a:p>
          <a:p>
            <a:pPr algn="l">
              <a:lnSpc>
                <a:spcPts val="1700"/>
              </a:lnSpc>
            </a:pPr>
            <a:r>
              <a:rPr sz="1250" b="0" i="0">
                <a:solidFill>
                  <a:srgbClr val="5F6B67"/>
                </a:solidFill>
                <a:latin typeface="Calibri"/>
              </a:rPr>
              <a:t>If this is right, no management category will separate cleanly on this metric, and the reference-state framing was never going to work.</a:t>
            </a:r>
          </a:p>
        </p:txBody>
      </p:sp>
      <p:sp>
        <p:nvSpPr>
          <p:cNvPr id="8" name="Rounded Rectangle 7"/>
          <p:cNvSpPr/>
          <p:nvPr/>
        </p:nvSpPr>
        <p:spPr>
          <a:xfrm>
            <a:off x="6172200" y="1691640"/>
            <a:ext cx="5349240" cy="32461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65960"/>
            <a:ext cx="4754880" cy="365760"/>
          </a:xfrm>
          <a:prstGeom prst="rect">
            <a:avLst/>
          </a:prstGeom>
          <a:noFill/>
        </p:spPr>
        <p:txBody>
          <a:bodyPr wrap="square" anchor="t" lIns="0" rIns="0" tIns="0" bIns="0">
            <a:spAutoFit/>
          </a:bodyPr>
          <a:lstStyle/>
          <a:p>
            <a:pPr algn="l"/>
            <a:r>
              <a:rPr sz="1250" b="1" i="0">
                <a:solidFill>
                  <a:srgbClr val="9C5B2E"/>
                </a:solidFill>
                <a:latin typeface="Calibri"/>
              </a:rPr>
              <a:t>Reading two</a:t>
            </a:r>
          </a:p>
        </p:txBody>
      </p:sp>
      <p:sp>
        <p:nvSpPr>
          <p:cNvPr id="10" name="TextBox 9"/>
          <p:cNvSpPr txBox="1"/>
          <p:nvPr/>
        </p:nvSpPr>
        <p:spPr>
          <a:xfrm>
            <a:off x="6492240" y="2423160"/>
            <a:ext cx="4754880" cy="2286000"/>
          </a:xfrm>
          <a:prstGeom prst="rect">
            <a:avLst/>
          </a:prstGeom>
          <a:noFill/>
        </p:spPr>
        <p:txBody>
          <a:bodyPr wrap="square" anchor="t" lIns="0" rIns="0" tIns="0" bIns="0">
            <a:spAutoFit/>
          </a:bodyPr>
          <a:lstStyle/>
          <a:p>
            <a:pPr algn="l">
              <a:lnSpc>
                <a:spcPts val="1700"/>
              </a:lnSpc>
            </a:pPr>
            <a:r>
              <a:rPr sz="1250" b="0" i="0">
                <a:solidFill>
                  <a:srgbClr val="5F6B67"/>
                </a:solidFill>
                <a:latin typeface="Calibri"/>
              </a:rPr>
              <a:t>The unzoned land is grazed less, not more. It sits outside the rotational system because it is remote, unwatered or unfenced — so the ordering is a real gradient with the inference inverted.</a:t>
            </a:r>
          </a:p>
          <a:p>
            <a:pPr algn="l">
              <a:lnSpc>
                <a:spcPts val="1700"/>
              </a:lnSpc>
            </a:pPr>
            <a:r>
              <a:rPr sz="1250" b="0" i="0">
                <a:solidFill>
                  <a:srgbClr val="5F6B67"/>
                </a:solidFill>
                <a:latin typeface="Calibri"/>
              </a:rPr>
              <a:t/>
            </a:r>
          </a:p>
          <a:p>
            <a:pPr algn="l">
              <a:lnSpc>
                <a:spcPts val="1700"/>
              </a:lnSpc>
            </a:pPr>
            <a:r>
              <a:rPr sz="1250" b="0" i="0">
                <a:solidFill>
                  <a:srgbClr val="5F6B67"/>
                </a:solidFill>
                <a:latin typeface="Calibri"/>
              </a:rPr>
              <a:t>If this is right, the floor does respond to grazing pressure, and the arms are simply mislabelled.</a:t>
            </a:r>
          </a:p>
        </p:txBody>
      </p:sp>
      <p:sp>
        <p:nvSpPr>
          <p:cNvPr id="11" name="Rounded Rectangle 10"/>
          <p:cNvSpPr/>
          <p:nvPr/>
        </p:nvSpPr>
        <p:spPr>
          <a:xfrm>
            <a:off x="640080" y="5166360"/>
            <a:ext cx="10881360" cy="960120"/>
          </a:xfrm>
          <a:prstGeom prst="roundRect">
            <a:avLst>
              <a:gd name="adj" fmla="val 3000"/>
            </a:avLst>
          </a:prstGeom>
          <a:solidFill>
            <a:srgbClr val="E4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394960"/>
            <a:ext cx="10241280" cy="640080"/>
          </a:xfrm>
          <a:prstGeom prst="rect">
            <a:avLst/>
          </a:prstGeom>
          <a:noFill/>
        </p:spPr>
        <p:txBody>
          <a:bodyPr wrap="square" anchor="t" lIns="0" rIns="0" tIns="0" bIns="0">
            <a:spAutoFit/>
          </a:bodyPr>
          <a:lstStyle/>
          <a:p>
            <a:pPr algn="l">
              <a:lnSpc>
                <a:spcPts val="1900"/>
              </a:lnSpc>
            </a:pPr>
            <a:r>
              <a:rPr sz="1300" b="1" i="0">
                <a:solidFill>
                  <a:srgbClr val="26302E"/>
                </a:solidFill>
                <a:latin typeface="Calibri"/>
              </a:rPr>
              <a:t>One conversation with Nari Nari decides which. </a:t>
            </a:r>
            <a:r>
              <a:rPr sz="1300" b="0" i="0">
                <a:solidFill>
                  <a:srgbClr val="5F6B67"/>
                </a:solidFill>
                <a:latin typeface="Calibri"/>
              </a:rPr>
              <a:t>Whether the unzoned country is grazed more, less or not at all is a question of fact that no amount of further computation will settle. Both readings are carried here deliberately.</a:t>
            </a:r>
          </a:p>
        </p:txBody>
      </p:sp>
      <p:sp>
        <p:nvSpPr>
          <p:cNvPr id="13" name="TextBox 12"/>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Supporting evidence for both readings: T6_A_three_arm_grid, the monotonic ordering, and the plot-confirmed subset being highest.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MECHANISM</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Which side moved — and it is not just the wet years</a:t>
            </a:r>
          </a:p>
        </p:txBody>
      </p:sp>
      <p:pic>
        <p:nvPicPr>
          <p:cNvPr id="5" name="Picture 4" descr="T2_F_gap_decomposition.png"/>
          <p:cNvPicPr>
            <a:picLocks noChangeAspect="1"/>
          </p:cNvPicPr>
          <p:nvPr/>
        </p:nvPicPr>
        <p:blipFill>
          <a:blip r:embed="rId2"/>
          <a:stretch>
            <a:fillRect/>
          </a:stretch>
        </p:blipFill>
        <p:spPr>
          <a:xfrm>
            <a:off x="1470660" y="1554480"/>
            <a:ext cx="5699759" cy="4663440"/>
          </a:xfrm>
          <a:prstGeom prst="rect">
            <a:avLst/>
          </a:prstGeom>
        </p:spPr>
      </p:pic>
      <p:sp>
        <p:nvSpPr>
          <p:cNvPr id="6" name="Rounded Rectangle 5"/>
          <p:cNvSpPr/>
          <p:nvPr/>
        </p:nvSpPr>
        <p:spPr>
          <a:xfrm>
            <a:off x="8321040" y="1554480"/>
            <a:ext cx="3200400" cy="466344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0" y="1828800"/>
            <a:ext cx="2651760" cy="1234440"/>
          </a:xfrm>
          <a:prstGeom prst="rect">
            <a:avLst/>
          </a:prstGeom>
          <a:noFill/>
        </p:spPr>
        <p:txBody>
          <a:bodyPr wrap="square" anchor="t" lIns="0" rIns="0" tIns="0" bIns="0">
            <a:spAutoFit/>
          </a:bodyPr>
          <a:lstStyle/>
          <a:p>
            <a:pPr algn="l">
              <a:lnSpc>
                <a:spcPts val="1350"/>
              </a:lnSpc>
            </a:pPr>
            <a:r>
              <a:rPr sz="1100" b="1" i="0">
                <a:solidFill>
                  <a:srgbClr val="26302E"/>
                </a:solidFill>
                <a:latin typeface="Calibri"/>
              </a:rPr>
              <a:t>Top panel: </a:t>
            </a:r>
            <a:r>
              <a:rPr sz="1100" b="0" i="0">
                <a:solidFill>
                  <a:srgbClr val="5F6B67"/>
                </a:solidFill>
                <a:latin typeface="Calibri"/>
              </a:rPr>
              <a:t>how much each side moved between 1988–97 and 2013–22. The gap narrowed for a different reason in each community.</a:t>
            </a:r>
          </a:p>
        </p:txBody>
      </p:sp>
      <p:sp>
        <p:nvSpPr>
          <p:cNvPr id="8" name="TextBox 7"/>
          <p:cNvSpPr txBox="1"/>
          <p:nvPr/>
        </p:nvSpPr>
        <p:spPr>
          <a:xfrm>
            <a:off x="8595360" y="3154680"/>
            <a:ext cx="2651760" cy="1417320"/>
          </a:xfrm>
          <a:prstGeom prst="rect">
            <a:avLst/>
          </a:prstGeom>
          <a:noFill/>
        </p:spPr>
        <p:txBody>
          <a:bodyPr wrap="square" anchor="t" lIns="0" rIns="0" tIns="0" bIns="0">
            <a:spAutoFit/>
          </a:bodyPr>
          <a:lstStyle/>
          <a:p>
            <a:pPr algn="l">
              <a:lnSpc>
                <a:spcPts val="1450"/>
              </a:lnSpc>
            </a:pPr>
            <a:r>
              <a:rPr sz="1100" b="0" i="0">
                <a:solidFill>
                  <a:srgbClr val="5F6B67"/>
                </a:solidFill>
                <a:latin typeface="Calibri"/>
              </a:rPr>
              <a:t>Aeolian — the ungrazed side rose (+14.8 against grazed +6.3). Riverine — the grazed side fell (−9.0 against ungrazed +4.5). Inland — both fell together.</a:t>
            </a:r>
          </a:p>
        </p:txBody>
      </p:sp>
      <p:sp>
        <p:nvSpPr>
          <p:cNvPr id="9" name="TextBox 8"/>
          <p:cNvSpPr txBox="1"/>
          <p:nvPr/>
        </p:nvSpPr>
        <p:spPr>
          <a:xfrm>
            <a:off x="8595360" y="4709160"/>
            <a:ext cx="2651760" cy="1371600"/>
          </a:xfrm>
          <a:prstGeom prst="rect">
            <a:avLst/>
          </a:prstGeom>
          <a:noFill/>
        </p:spPr>
        <p:txBody>
          <a:bodyPr wrap="square" anchor="t" lIns="0" rIns="0" tIns="0" bIns="0">
            <a:spAutoFit/>
          </a:bodyPr>
          <a:lstStyle/>
          <a:p>
            <a:pPr algn="l">
              <a:lnSpc>
                <a:spcPts val="1350"/>
              </a:lnSpc>
            </a:pPr>
            <a:r>
              <a:rPr sz="1100" b="1" i="0">
                <a:solidFill>
                  <a:srgbClr val="26302E"/>
                </a:solidFill>
                <a:latin typeface="Calibri"/>
              </a:rPr>
              <a:t>Bottom panel: </a:t>
            </a:r>
            <a:r>
              <a:rPr sz="1100" b="0" i="0">
                <a:solidFill>
                  <a:srgbClr val="5F6B67"/>
                </a:solidFill>
                <a:latin typeface="Calibri"/>
              </a:rPr>
              <a:t>the same split into flood and non-flood years. If the narrowing were only a wet-year effect the orange bars would vanish. They do not.</a:t>
            </a:r>
          </a:p>
        </p:txBody>
      </p:sp>
      <p:sp>
        <p:nvSpPr>
          <p:cNvPr id="10" name="TextBox 9"/>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Figure T2_F_gap_decomposition. Source: fact_reference_gap_decomposition. Support: pixel, community window, min 30 px/cell. Aeolian carries n_ref = 1 (Bala 29ca only).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INTERNAL CONSISTENCY</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The reference paddocks disagree with each other</a:t>
            </a:r>
          </a:p>
        </p:txBody>
      </p:sp>
      <p:sp>
        <p:nvSpPr>
          <p:cNvPr id="5" name="Rounded Rectangle 4"/>
          <p:cNvSpPr/>
          <p:nvPr/>
        </p:nvSpPr>
        <p:spPr>
          <a:xfrm>
            <a:off x="640080" y="1737360"/>
            <a:ext cx="4846320" cy="356616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240280"/>
            <a:ext cx="4297680" cy="914400"/>
          </a:xfrm>
          <a:prstGeom prst="rect">
            <a:avLst/>
          </a:prstGeom>
          <a:noFill/>
        </p:spPr>
        <p:txBody>
          <a:bodyPr wrap="square" anchor="t" lIns="0" rIns="0" tIns="0" bIns="0">
            <a:spAutoFit/>
          </a:bodyPr>
          <a:lstStyle/>
          <a:p>
            <a:pPr algn="l"/>
            <a:r>
              <a:rPr sz="4400" b="1" i="0">
                <a:solidFill>
                  <a:srgbClr val="B33A3A"/>
                </a:solidFill>
                <a:latin typeface="Cambria"/>
              </a:rPr>
              <a:t>6 of 9</a:t>
            </a:r>
          </a:p>
        </p:txBody>
      </p:sp>
      <p:sp>
        <p:nvSpPr>
          <p:cNvPr id="7" name="TextBox 6"/>
          <p:cNvSpPr txBox="1"/>
          <p:nvPr/>
        </p:nvSpPr>
        <p:spPr>
          <a:xfrm>
            <a:off x="960120" y="3291840"/>
            <a:ext cx="4297680" cy="1280160"/>
          </a:xfrm>
          <a:prstGeom prst="rect">
            <a:avLst/>
          </a:prstGeom>
          <a:noFill/>
        </p:spPr>
        <p:txBody>
          <a:bodyPr wrap="square" anchor="t" lIns="0" rIns="0" tIns="0" bIns="0">
            <a:spAutoFit/>
          </a:bodyPr>
          <a:lstStyle/>
          <a:p>
            <a:pPr algn="l">
              <a:lnSpc>
                <a:spcPts val="1800"/>
              </a:lnSpc>
            </a:pPr>
            <a:r>
              <a:rPr sz="1300" b="0" i="0">
                <a:solidFill>
                  <a:srgbClr val="5F6B67"/>
                </a:solidFill>
                <a:latin typeface="Calibri"/>
              </a:rPr>
              <a:t>strata where the spread within the reference set is larger than the difference between reference and grazed.</a:t>
            </a:r>
          </a:p>
        </p:txBody>
      </p:sp>
      <p:sp>
        <p:nvSpPr>
          <p:cNvPr id="8" name="TextBox 7"/>
          <p:cNvSpPr txBox="1"/>
          <p:nvPr/>
        </p:nvSpPr>
        <p:spPr>
          <a:xfrm>
            <a:off x="960120" y="4663440"/>
            <a:ext cx="4297680" cy="457200"/>
          </a:xfrm>
          <a:prstGeom prst="rect">
            <a:avLst/>
          </a:prstGeom>
          <a:noFill/>
        </p:spPr>
        <p:txBody>
          <a:bodyPr wrap="square" anchor="t" lIns="0" rIns="0" tIns="0" bIns="0">
            <a:spAutoFit/>
          </a:bodyPr>
          <a:lstStyle/>
          <a:p>
            <a:pPr algn="l"/>
            <a:r>
              <a:rPr sz="1200" b="0" i="1">
                <a:solidFill>
                  <a:srgbClr val="8A8378"/>
                </a:solidFill>
                <a:latin typeface="Calibri"/>
              </a:rPr>
              <a:t>Every Riverine band and every Inland Floodplain band.</a:t>
            </a:r>
          </a:p>
        </p:txBody>
      </p:sp>
      <p:sp>
        <p:nvSpPr>
          <p:cNvPr id="9" name="TextBox 8"/>
          <p:cNvSpPr txBox="1"/>
          <p:nvPr/>
        </p:nvSpPr>
        <p:spPr>
          <a:xfrm>
            <a:off x="5760720" y="1828800"/>
            <a:ext cx="5760720" cy="320040"/>
          </a:xfrm>
          <a:prstGeom prst="rect">
            <a:avLst/>
          </a:prstGeom>
          <a:noFill/>
        </p:spPr>
        <p:txBody>
          <a:bodyPr wrap="square" anchor="t" lIns="0" rIns="0" tIns="0" bIns="0">
            <a:spAutoFit/>
          </a:bodyPr>
          <a:lstStyle/>
          <a:p>
            <a:pPr algn="l"/>
            <a:r>
              <a:rPr sz="1250" b="1" i="0">
                <a:solidFill>
                  <a:srgbClr val="9C5B2E"/>
                </a:solidFill>
                <a:latin typeface="Calibri"/>
              </a:rPr>
              <a:t>What that means for the design</a:t>
            </a:r>
          </a:p>
        </p:txBody>
      </p:sp>
      <p:sp>
        <p:nvSpPr>
          <p:cNvPr id="10" name="TextBox 9"/>
          <p:cNvSpPr txBox="1"/>
          <p:nvPr/>
        </p:nvSpPr>
        <p:spPr>
          <a:xfrm>
            <a:off x="5760720" y="2331720"/>
            <a:ext cx="5760720" cy="3017520"/>
          </a:xfrm>
          <a:prstGeom prst="rect">
            <a:avLst/>
          </a:prstGeom>
          <a:noFill/>
        </p:spPr>
        <p:txBody>
          <a:bodyPr wrap="square" anchor="t" lIns="0" rIns="0" tIns="0" bIns="0">
            <a:spAutoFit/>
          </a:bodyPr>
          <a:lstStyle/>
          <a:p>
            <a:pPr algn="l">
              <a:lnSpc>
                <a:spcPts val="1600"/>
              </a:lnSpc>
            </a:pPr>
            <a:r>
              <a:rPr sz="1250" b="0" i="0">
                <a:solidFill>
                  <a:srgbClr val="9C5B2E"/>
                </a:solidFill>
                <a:latin typeface="Calibri"/>
              </a:rPr>
              <a:t>•  </a:t>
            </a:r>
            <a:r>
              <a:rPr sz="1250" b="0" i="0">
                <a:solidFill>
                  <a:srgbClr val="5F6B67"/>
                </a:solidFill>
                <a:latin typeface="Calibri"/>
              </a:rPr>
              <a:t>In Riverine-high the four reference paddocks span 29.8 to 66.3% floor, while the whole reference-grazed contrast is −2.1 pp. The target is inside the noise.</a:t>
            </a:r>
          </a:p>
          <a:p>
            <a:pPr algn="l">
              <a:lnSpc>
                <a:spcPts val="1600"/>
              </a:lnSpc>
            </a:pPr>
            <a:r>
              <a:rPr sz="1250" b="0" i="0">
                <a:solidFill>
                  <a:srgbClr val="5F6B67"/>
                </a:solidFill>
                <a:latin typeface="Calibri"/>
              </a:rPr>
              <a:t/>
            </a:r>
          </a:p>
          <a:p>
            <a:pPr algn="l">
              <a:lnSpc>
                <a:spcPts val="1600"/>
              </a:lnSpc>
            </a:pPr>
            <a:r>
              <a:rPr sz="1250" b="0" i="0">
                <a:solidFill>
                  <a:srgbClr val="9C5B2E"/>
                </a:solidFill>
                <a:latin typeface="Calibri"/>
              </a:rPr>
              <a:t>•  </a:t>
            </a:r>
            <a:r>
              <a:rPr sz="1250" b="0" i="0">
                <a:solidFill>
                  <a:srgbClr val="5F6B67"/>
                </a:solidFill>
                <a:latin typeface="Calibri"/>
              </a:rPr>
              <a:t>A fixed distance-to-reference number would be measuring distance to an arbitrary point inside a 40-point cloud.</a:t>
            </a:r>
          </a:p>
          <a:p>
            <a:pPr algn="l">
              <a:lnSpc>
                <a:spcPts val="1600"/>
              </a:lnSpc>
            </a:pPr>
            <a:r>
              <a:rPr sz="1250" b="0" i="0">
                <a:solidFill>
                  <a:srgbClr val="5F6B67"/>
                </a:solidFill>
                <a:latin typeface="Calibri"/>
              </a:rPr>
              <a:t/>
            </a:r>
          </a:p>
          <a:p>
            <a:pPr algn="l">
              <a:lnSpc>
                <a:spcPts val="1600"/>
              </a:lnSpc>
            </a:pPr>
            <a:r>
              <a:rPr sz="1250" b="0" i="0">
                <a:solidFill>
                  <a:srgbClr val="9C5B2E"/>
                </a:solidFill>
                <a:latin typeface="Calibri"/>
              </a:rPr>
              <a:t>•  </a:t>
            </a:r>
            <a:r>
              <a:rPr sz="1250" b="0" i="0">
                <a:solidFill>
                  <a:srgbClr val="5F6B67"/>
                </a:solidFill>
                <a:latin typeface="Calibri"/>
              </a:rPr>
              <a:t>Aeolian has only one reference paddock, so no community-level claim can rest on it at all.</a:t>
            </a:r>
          </a:p>
        </p:txBody>
      </p:sp>
      <p:sp>
        <p:nvSpPr>
          <p:cNvPr id="11" name="TextBox 10"/>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Source: within-stratum spread of veg_p05 across the four reference paddocks, from census_by_zone_stratum and v_zone_stratum_contrast_bala_robust. Support: pixel.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THE EARLIER RESULT</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The apparent grazing effect was block structure</a:t>
            </a:r>
          </a:p>
        </p:txBody>
      </p:sp>
      <p:graphicFrame>
        <p:nvGraphicFramePr>
          <p:cNvPr id="5" name="Chart 4"/>
          <p:cNvGraphicFramePr>
            <a:graphicFrameLocks noGrp="1"/>
          </p:cNvGraphicFramePr>
          <p:nvPr/>
        </p:nvGraphicFramePr>
        <p:xfrm>
          <a:off x="685800" y="1691640"/>
          <a:ext cx="6903720" cy="3611880"/>
        </p:xfrm>
        <a:graphic>
          <a:graphicData uri="http://schemas.openxmlformats.org/drawingml/2006/chart">
            <c:chart xmlns:c="http://schemas.openxmlformats.org/drawingml/2006/chart" r:id="rId2"/>
          </a:graphicData>
        </a:graphic>
      </p:graphicFrame>
      <p:sp>
        <p:nvSpPr>
          <p:cNvPr id="6" name="Rounded Rectangle 5"/>
          <p:cNvSpPr/>
          <p:nvPr/>
        </p:nvSpPr>
        <p:spPr>
          <a:xfrm>
            <a:off x="7863840" y="1737360"/>
            <a:ext cx="3657600" cy="356616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0" y="1965960"/>
            <a:ext cx="3108960" cy="320040"/>
          </a:xfrm>
          <a:prstGeom prst="rect">
            <a:avLst/>
          </a:prstGeom>
          <a:noFill/>
        </p:spPr>
        <p:txBody>
          <a:bodyPr wrap="square" anchor="t" lIns="0" rIns="0" tIns="0" bIns="0">
            <a:spAutoFit/>
          </a:bodyPr>
          <a:lstStyle/>
          <a:p>
            <a:pPr algn="l"/>
            <a:r>
              <a:rPr sz="1250" b="1" i="0">
                <a:solidFill>
                  <a:srgbClr val="9C5B2E"/>
                </a:solidFill>
                <a:latin typeface="Calibri"/>
              </a:rPr>
              <a:t>What changed</a:t>
            </a:r>
          </a:p>
        </p:txBody>
      </p:sp>
      <p:sp>
        <p:nvSpPr>
          <p:cNvPr id="8" name="TextBox 7"/>
          <p:cNvSpPr txBox="1"/>
          <p:nvPr/>
        </p:nvSpPr>
        <p:spPr>
          <a:xfrm>
            <a:off x="8138160" y="2423160"/>
            <a:ext cx="3108960" cy="2743200"/>
          </a:xfrm>
          <a:prstGeom prst="rect">
            <a:avLst/>
          </a:prstGeom>
          <a:noFill/>
        </p:spPr>
        <p:txBody>
          <a:bodyPr wrap="square" anchor="t" lIns="0" rIns="0" tIns="0" bIns="0">
            <a:spAutoFit/>
          </a:bodyPr>
          <a:lstStyle/>
          <a:p>
            <a:pPr algn="l">
              <a:lnSpc>
                <a:spcPts val="1600"/>
              </a:lnSpc>
            </a:pPr>
            <a:r>
              <a:rPr sz="1200" b="0" i="0">
                <a:solidFill>
                  <a:srgbClr val="5F6B67"/>
                </a:solidFill>
                <a:latin typeface="Calibri"/>
              </a:rPr>
              <a:t>Matching on wetness within stratum, the Riverine bands showed a consistent +7.5 to +8.3 pp advantage for ungrazed ground. That looked like a grazing effect.</a:t>
            </a:r>
          </a:p>
          <a:p>
            <a:pPr algn="l">
              <a:lnSpc>
                <a:spcPts val="1600"/>
              </a:lnSpc>
            </a:pPr>
            <a:r>
              <a:rPr sz="1200" b="0" i="0">
                <a:solidFill>
                  <a:srgbClr val="5F6B67"/>
                </a:solidFill>
                <a:latin typeface="Calibri"/>
              </a:rPr>
              <a:t/>
            </a:r>
          </a:p>
          <a:p>
            <a:pPr algn="l">
              <a:lnSpc>
                <a:spcPts val="1600"/>
              </a:lnSpc>
            </a:pPr>
            <a:r>
              <a:rPr sz="1200" b="0" i="0">
                <a:solidFill>
                  <a:srgbClr val="5F6B67"/>
                </a:solidFill>
                <a:latin typeface="Calibri"/>
              </a:rPr>
              <a:t>Restricting the comparison to Bala paddocks and weighting by paddock rather than pixel, it collapses — and reverses in the high band.</a:t>
            </a:r>
          </a:p>
          <a:p>
            <a:pPr algn="l">
              <a:lnSpc>
                <a:spcPts val="1600"/>
              </a:lnSpc>
            </a:pPr>
            <a:r>
              <a:rPr sz="1200" b="0" i="0">
                <a:solidFill>
                  <a:srgbClr val="5F6B67"/>
                </a:solidFill>
                <a:latin typeface="Calibri"/>
              </a:rPr>
              <a:t/>
            </a:r>
          </a:p>
          <a:p>
            <a:pPr algn="l">
              <a:lnSpc>
                <a:spcPts val="1600"/>
              </a:lnSpc>
            </a:pPr>
            <a:r>
              <a:rPr sz="1200" b="0" i="0">
                <a:solidFill>
                  <a:srgbClr val="5F6B67"/>
                </a:solidFill>
                <a:latin typeface="Calibri"/>
              </a:rPr>
              <a:t>93% of the reference pixels behind the original number came from Bala 29ca.</a:t>
            </a:r>
          </a:p>
        </p:txBody>
      </p:sp>
      <p:sp>
        <p:nvSpPr>
          <p:cNvPr id="9" name="TextBox 8"/>
          <p:cNvSpPr txBox="1"/>
          <p:nvPr/>
        </p:nvSpPr>
        <p:spPr>
          <a:xfrm>
            <a:off x="685800" y="5486400"/>
            <a:ext cx="6903720" cy="685800"/>
          </a:xfrm>
          <a:prstGeom prst="rect">
            <a:avLst/>
          </a:prstGeom>
          <a:noFill/>
        </p:spPr>
        <p:txBody>
          <a:bodyPr wrap="square" anchor="t" lIns="0" rIns="0" tIns="0" bIns="0">
            <a:spAutoFit/>
          </a:bodyPr>
          <a:lstStyle/>
          <a:p>
            <a:pPr algn="l">
              <a:lnSpc>
                <a:spcPts val="1350"/>
              </a:lnSpc>
            </a:pPr>
            <a:r>
              <a:rPr sz="1050" b="1" i="0">
                <a:solidFill>
                  <a:srgbClr val="26302E"/>
                </a:solidFill>
                <a:latin typeface="Calibri"/>
              </a:rPr>
              <a:t>Reading this chart: </a:t>
            </a:r>
            <a:r>
              <a:rPr sz="1050" b="0" i="0">
                <a:solidFill>
                  <a:srgbClr val="5F6B67"/>
                </a:solidFill>
                <a:latin typeface="Calibri"/>
              </a:rPr>
              <a:t>the gold bars are the result as first computed; the teal bars are the same comparison once the paddocks are treated as the unit rather than the pixels. A result that survives this test is about grazing; one that does not is about which paddocks happen to be in which group.</a:t>
            </a:r>
          </a:p>
        </p:txBody>
      </p:sp>
      <p:sp>
        <p:nvSpPr>
          <p:cNvPr id="10" name="TextBox 9"/>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Source: v_zone_stratum_treatment_contrast and v_zone_stratum_contrast_bala_robust, T1 Gate D. Support: pixel.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THE WIDER SURFACE</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Where the property stays green, regardless of management</a:t>
            </a:r>
          </a:p>
        </p:txBody>
      </p:sp>
      <p:pic>
        <p:nvPicPr>
          <p:cNvPr id="5" name="Picture 4" descr="T2_B2_duration_map.png"/>
          <p:cNvPicPr>
            <a:picLocks noChangeAspect="1"/>
          </p:cNvPicPr>
          <p:nvPr/>
        </p:nvPicPr>
        <p:blipFill>
          <a:blip r:embed="rId2"/>
          <a:stretch>
            <a:fillRect/>
          </a:stretch>
        </p:blipFill>
        <p:spPr>
          <a:xfrm>
            <a:off x="656408" y="1554480"/>
            <a:ext cx="7328262" cy="4663440"/>
          </a:xfrm>
          <a:prstGeom prst="rect">
            <a:avLst/>
          </a:prstGeom>
        </p:spPr>
      </p:pic>
      <p:sp>
        <p:nvSpPr>
          <p:cNvPr id="6" name="Rounded Rectangle 5"/>
          <p:cNvSpPr/>
          <p:nvPr/>
        </p:nvSpPr>
        <p:spPr>
          <a:xfrm>
            <a:off x="8321040" y="1554480"/>
            <a:ext cx="3200400" cy="466344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0" y="1828800"/>
            <a:ext cx="2651760" cy="320040"/>
          </a:xfrm>
          <a:prstGeom prst="rect">
            <a:avLst/>
          </a:prstGeom>
          <a:noFill/>
        </p:spPr>
        <p:txBody>
          <a:bodyPr wrap="square" anchor="t" lIns="0" rIns="0" tIns="0" bIns="0">
            <a:spAutoFit/>
          </a:bodyPr>
          <a:lstStyle/>
          <a:p>
            <a:pPr algn="l"/>
            <a:r>
              <a:rPr sz="1200" b="1" i="0">
                <a:solidFill>
                  <a:srgbClr val="9C5B2E"/>
                </a:solidFill>
                <a:latin typeface="Calibri"/>
              </a:rPr>
              <a:t>What you are looking at</a:t>
            </a:r>
          </a:p>
        </p:txBody>
      </p:sp>
      <p:sp>
        <p:nvSpPr>
          <p:cNvPr id="8" name="TextBox 7"/>
          <p:cNvSpPr txBox="1"/>
          <p:nvPr/>
        </p:nvSpPr>
        <p:spPr>
          <a:xfrm>
            <a:off x="8595360" y="2267712"/>
            <a:ext cx="2651760" cy="2331720"/>
          </a:xfrm>
          <a:prstGeom prst="rect">
            <a:avLst/>
          </a:prstGeom>
          <a:noFill/>
        </p:spPr>
        <p:txBody>
          <a:bodyPr wrap="square" anchor="t" lIns="0" rIns="0" tIns="0" bIns="0">
            <a:spAutoFit/>
          </a:bodyPr>
          <a:lstStyle/>
          <a:p>
            <a:pPr algn="l">
              <a:lnSpc>
                <a:spcPts val="1400"/>
              </a:lnSpc>
            </a:pPr>
            <a:r>
              <a:rPr sz="1100" b="0" i="0">
                <a:solidFill>
                  <a:srgbClr val="5F6B67"/>
                </a:solidFill>
                <a:latin typeface="Calibri"/>
              </a:rPr>
              <a:t>Every pixel on the property, coloured by the share of observed years in which its mean total vegetation exceeded 70%.</a:t>
            </a:r>
          </a:p>
          <a:p>
            <a:pPr algn="l">
              <a:lnSpc>
                <a:spcPts val="1400"/>
              </a:lnSpc>
            </a:pPr>
            <a:r>
              <a:rPr sz="1100" b="0" i="0">
                <a:solidFill>
                  <a:srgbClr val="5F6B67"/>
                </a:solidFill>
                <a:latin typeface="Calibri"/>
              </a:rPr>
              <a:t/>
            </a:r>
          </a:p>
          <a:p>
            <a:pPr algn="l">
              <a:lnSpc>
                <a:spcPts val="1400"/>
              </a:lnSpc>
            </a:pPr>
            <a:r>
              <a:rPr sz="1100" b="0" i="0">
                <a:solidFill>
                  <a:srgbClr val="5F6B67"/>
                </a:solidFill>
                <a:latin typeface="Calibri"/>
              </a:rPr>
              <a:t>Yellow means green nearly every year. Dark blue means rarely.</a:t>
            </a:r>
          </a:p>
          <a:p>
            <a:pPr algn="l">
              <a:lnSpc>
                <a:spcPts val="1400"/>
              </a:lnSpc>
            </a:pPr>
            <a:r>
              <a:rPr sz="1100" b="0" i="0">
                <a:solidFill>
                  <a:srgbClr val="5F6B67"/>
                </a:solidFill>
                <a:latin typeface="Calibri"/>
              </a:rPr>
              <a:t/>
            </a:r>
          </a:p>
          <a:p>
            <a:pPr algn="l">
              <a:lnSpc>
                <a:spcPts val="1400"/>
              </a:lnSpc>
            </a:pPr>
            <a:r>
              <a:rPr sz="1100" b="0" i="0">
                <a:solidFill>
                  <a:srgbClr val="5F6B67"/>
                </a:solidFill>
                <a:latin typeface="Calibri"/>
              </a:rPr>
              <a:t>The pattern is hydrological, not administrative — it follows channels and low ground, and it crosses paddock boundaries without noticing them.</a:t>
            </a:r>
          </a:p>
        </p:txBody>
      </p:sp>
      <p:sp>
        <p:nvSpPr>
          <p:cNvPr id="9" name="TextBox 8"/>
          <p:cNvSpPr txBox="1"/>
          <p:nvPr/>
        </p:nvSpPr>
        <p:spPr>
          <a:xfrm>
            <a:off x="8595360" y="4663440"/>
            <a:ext cx="2651760" cy="1417320"/>
          </a:xfrm>
          <a:prstGeom prst="rect">
            <a:avLst/>
          </a:prstGeom>
          <a:noFill/>
        </p:spPr>
        <p:txBody>
          <a:bodyPr wrap="square" anchor="t" lIns="0" rIns="0" tIns="0" bIns="0">
            <a:spAutoFit/>
          </a:bodyPr>
          <a:lstStyle/>
          <a:p>
            <a:pPr algn="l">
              <a:lnSpc>
                <a:spcPts val="1350"/>
              </a:lnSpc>
            </a:pPr>
            <a:r>
              <a:rPr sz="1100" b="1" i="0">
                <a:solidFill>
                  <a:srgbClr val="26302E"/>
                </a:solidFill>
                <a:latin typeface="Calibri"/>
              </a:rPr>
              <a:t>One caution: </a:t>
            </a:r>
            <a:r>
              <a:rPr sz="1100" b="0" i="0">
                <a:solidFill>
                  <a:srgbClr val="5F6B67"/>
                </a:solidFill>
                <a:latin typeface="Calibri"/>
              </a:rPr>
              <a:t>this is a persistence measure — how often cover was above a threshold — not the floor metric used elsewhere. Shown for spatial context only.</a:t>
            </a:r>
          </a:p>
        </p:txBody>
      </p:sp>
      <p:sp>
        <p:nvSpPr>
          <p:cNvPr id="10" name="TextBox 9"/>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Figure T2_B2_duration_map. Source: veg_persistence_duration_8058, pct_above_70 band. Denominator = veg_valid_years, NA below 10. Support: pixel, all-pixel, EPSG:8058.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THE OPEN PROBLEM</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The paddock comparison is not controlled for wetness</a:t>
            </a:r>
          </a:p>
        </p:txBody>
      </p:sp>
      <p:graphicFrame>
        <p:nvGraphicFramePr>
          <p:cNvPr id="5" name="Chart 4"/>
          <p:cNvGraphicFramePr>
            <a:graphicFrameLocks noGrp="1"/>
          </p:cNvGraphicFramePr>
          <p:nvPr/>
        </p:nvGraphicFramePr>
        <p:xfrm>
          <a:off x="685800" y="1691640"/>
          <a:ext cx="6903720" cy="3611880"/>
        </p:xfrm>
        <a:graphic>
          <a:graphicData uri="http://schemas.openxmlformats.org/drawingml/2006/chart">
            <c:chart xmlns:c="http://schemas.openxmlformats.org/drawingml/2006/chart" r:id="rId2"/>
          </a:graphicData>
        </a:graphic>
      </p:graphicFrame>
      <p:sp>
        <p:nvSpPr>
          <p:cNvPr id="6" name="Rounded Rectangle 5"/>
          <p:cNvSpPr/>
          <p:nvPr/>
        </p:nvSpPr>
        <p:spPr>
          <a:xfrm>
            <a:off x="7863840" y="1737360"/>
            <a:ext cx="3657600" cy="3566160"/>
          </a:xfrm>
          <a:prstGeom prst="roundRect">
            <a:avLst>
              <a:gd name="adj" fmla="val 3000"/>
            </a:avLst>
          </a:prstGeom>
          <a:solidFill>
            <a:srgbClr val="F3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0" y="1965960"/>
            <a:ext cx="3108960" cy="320040"/>
          </a:xfrm>
          <a:prstGeom prst="rect">
            <a:avLst/>
          </a:prstGeom>
          <a:noFill/>
        </p:spPr>
        <p:txBody>
          <a:bodyPr wrap="square" anchor="t" lIns="0" rIns="0" tIns="0" bIns="0">
            <a:spAutoFit/>
          </a:bodyPr>
          <a:lstStyle/>
          <a:p>
            <a:pPr algn="l"/>
            <a:r>
              <a:rPr sz="1250" b="1" i="0">
                <a:solidFill>
                  <a:srgbClr val="9C5B2E"/>
                </a:solidFill>
                <a:latin typeface="Calibri"/>
              </a:rPr>
              <a:t>Why this matters</a:t>
            </a:r>
          </a:p>
        </p:txBody>
      </p:sp>
      <p:sp>
        <p:nvSpPr>
          <p:cNvPr id="8" name="TextBox 7"/>
          <p:cNvSpPr txBox="1"/>
          <p:nvPr/>
        </p:nvSpPr>
        <p:spPr>
          <a:xfrm>
            <a:off x="8138160" y="2423160"/>
            <a:ext cx="3108960" cy="2743200"/>
          </a:xfrm>
          <a:prstGeom prst="rect">
            <a:avLst/>
          </a:prstGeom>
          <a:noFill/>
        </p:spPr>
        <p:txBody>
          <a:bodyPr wrap="square" anchor="t" lIns="0" rIns="0" tIns="0" bIns="0">
            <a:spAutoFit/>
          </a:bodyPr>
          <a:lstStyle/>
          <a:p>
            <a:pPr algn="l">
              <a:lnSpc>
                <a:spcPts val="1600"/>
              </a:lnSpc>
            </a:pPr>
            <a:r>
              <a:rPr sz="1200" b="0" i="0">
                <a:solidFill>
                  <a:srgbClr val="5F6B67"/>
                </a:solidFill>
                <a:latin typeface="Calibri"/>
              </a:rPr>
              <a:t>Across all 64 paddocks the floor tracks inundation at r = 0.71 — wetness explains about half of it.</a:t>
            </a:r>
          </a:p>
          <a:p>
            <a:pPr algn="l">
              <a:lnSpc>
                <a:spcPts val="1600"/>
              </a:lnSpc>
            </a:pPr>
            <a:r>
              <a:rPr sz="1200" b="0" i="0">
                <a:solidFill>
                  <a:srgbClr val="5F6B67"/>
                </a:solidFill>
                <a:latin typeface="Calibri"/>
              </a:rPr>
              <a:t/>
            </a:r>
          </a:p>
          <a:p>
            <a:pPr algn="l">
              <a:lnSpc>
                <a:spcPts val="1600"/>
              </a:lnSpc>
            </a:pPr>
            <a:r>
              <a:rPr sz="1200" b="0" i="0">
                <a:solidFill>
                  <a:srgbClr val="5F6B67"/>
                </a:solidFill>
                <a:latin typeface="Calibri"/>
              </a:rPr>
              <a:t>Bala 29ca is the fourth-driest paddock on the property: 8.5% mean annual inundation against a grazed median of 28.6%.</a:t>
            </a:r>
          </a:p>
          <a:p>
            <a:pPr algn="l">
              <a:lnSpc>
                <a:spcPts val="1600"/>
              </a:lnSpc>
            </a:pPr>
            <a:r>
              <a:rPr sz="1200" b="0" i="0">
                <a:solidFill>
                  <a:srgbClr val="5F6B67"/>
                </a:solidFill>
                <a:latin typeface="Calibri"/>
              </a:rPr>
              <a:t/>
            </a:r>
          </a:p>
          <a:p>
            <a:pPr algn="l">
              <a:lnSpc>
                <a:spcPts val="1600"/>
              </a:lnSpc>
            </a:pPr>
            <a:r>
              <a:rPr sz="1200" b="0" i="0">
                <a:solidFill>
                  <a:srgbClr val="5F6B67"/>
                </a:solidFill>
                <a:latin typeface="Calibri"/>
              </a:rPr>
              <a:t>Fitting that relationship, a paddock as dry as Bala 29ca would be predicted at about 57% floor. It sits at 40.5%.</a:t>
            </a:r>
          </a:p>
        </p:txBody>
      </p:sp>
      <p:sp>
        <p:nvSpPr>
          <p:cNvPr id="9" name="TextBox 8"/>
          <p:cNvSpPr txBox="1"/>
          <p:nvPr/>
        </p:nvSpPr>
        <p:spPr>
          <a:xfrm>
            <a:off x="685800" y="5486400"/>
            <a:ext cx="6903720" cy="777240"/>
          </a:xfrm>
          <a:prstGeom prst="rect">
            <a:avLst/>
          </a:prstGeom>
          <a:noFill/>
        </p:spPr>
        <p:txBody>
          <a:bodyPr wrap="square" anchor="t" lIns="0" rIns="0" tIns="0" bIns="0">
            <a:spAutoFit/>
          </a:bodyPr>
          <a:lstStyle/>
          <a:p>
            <a:pPr algn="l">
              <a:lnSpc>
                <a:spcPts val="1350"/>
              </a:lnSpc>
            </a:pPr>
            <a:r>
              <a:rPr sz="1050" b="1" i="0">
                <a:solidFill>
                  <a:srgbClr val="26302E"/>
                </a:solidFill>
                <a:latin typeface="Calibri"/>
              </a:rPr>
              <a:t>What this does to the headline: </a:t>
            </a:r>
            <a:r>
              <a:rPr sz="1050" b="0" i="0">
                <a:solidFill>
                  <a:srgbClr val="5F6B67"/>
                </a:solidFill>
                <a:latin typeface="Calibri"/>
              </a:rPr>
              <a:t>the −42 pp figure on slide 7 compares one dry paddock against the median of paddocks more than three times wetter. Once wetness is accounted for, the residual is roughly −17 pp. The finding survives — Bala 29ca is genuinely low even for how dry it is — but at about 40% of its stated size. Note that a grazed paddock, Dinan 10, sits at 40.4% on almost the same wetness.</a:t>
            </a:r>
          </a:p>
        </p:txBody>
      </p:sp>
      <p:sp>
        <p:nvSpPr>
          <p:cNvPr id="10" name="TextBox 9"/>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NEW ANALYSIS, computed 28 July 2026, NOT YET REGISTERED. Source: fact_zone_veg_annual joined to dim_management_zone. Needs a proper build before publication. T6 controls this by stratum; T1 reports the flood delta alongside; the slide-7 table does neither.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WHERE THIS LEAVES THE DESIGN</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Four ways forward</a:t>
            </a:r>
          </a:p>
        </p:txBody>
      </p:sp>
      <p:sp>
        <p:nvSpPr>
          <p:cNvPr id="5" name="Rounded Rectangle 4"/>
          <p:cNvSpPr/>
          <p:nvPr/>
        </p:nvSpPr>
        <p:spPr>
          <a:xfrm>
            <a:off x="640080" y="1645920"/>
            <a:ext cx="10881360" cy="9601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47088"/>
            <a:ext cx="548640" cy="548640"/>
          </a:xfrm>
          <a:prstGeom prst="ellipse">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Cambria"/>
              </a:rPr>
              <a:t>1</a:t>
            </a:r>
          </a:p>
        </p:txBody>
      </p:sp>
      <p:sp>
        <p:nvSpPr>
          <p:cNvPr id="7" name="TextBox 6"/>
          <p:cNvSpPr txBox="1"/>
          <p:nvPr/>
        </p:nvSpPr>
        <p:spPr>
          <a:xfrm>
            <a:off x="1737360" y="1828800"/>
            <a:ext cx="2743200" cy="548640"/>
          </a:xfrm>
          <a:prstGeom prst="rect">
            <a:avLst/>
          </a:prstGeom>
          <a:noFill/>
        </p:spPr>
        <p:txBody>
          <a:bodyPr wrap="square" anchor="t" lIns="0" rIns="0" tIns="0" bIns="0">
            <a:spAutoFit/>
          </a:bodyPr>
          <a:lstStyle/>
          <a:p>
            <a:pPr algn="l"/>
            <a:r>
              <a:rPr sz="1350" b="1" i="0">
                <a:solidFill>
                  <a:srgbClr val="26302E"/>
                </a:solidFill>
                <a:latin typeface="Calibri"/>
              </a:rPr>
              <a:t>Report it as it stands</a:t>
            </a:r>
          </a:p>
        </p:txBody>
      </p:sp>
      <p:sp>
        <p:nvSpPr>
          <p:cNvPr id="8" name="TextBox 7"/>
          <p:cNvSpPr txBox="1"/>
          <p:nvPr/>
        </p:nvSpPr>
        <p:spPr>
          <a:xfrm>
            <a:off x="4663440" y="1792224"/>
            <a:ext cx="6583680" cy="731520"/>
          </a:xfrm>
          <a:prstGeom prst="rect">
            <a:avLst/>
          </a:prstGeom>
          <a:noFill/>
        </p:spPr>
        <p:txBody>
          <a:bodyPr wrap="square" anchor="t" lIns="0" rIns="0" tIns="0" bIns="0">
            <a:spAutoFit/>
          </a:bodyPr>
          <a:lstStyle/>
          <a:p>
            <a:pPr algn="l">
              <a:lnSpc>
                <a:spcPts val="1500"/>
              </a:lnSpc>
            </a:pPr>
            <a:r>
              <a:rPr sz="1150" b="0" i="0">
                <a:solidFill>
                  <a:srgbClr val="5F6B67"/>
                </a:solidFill>
                <a:latin typeface="Calibri"/>
              </a:rPr>
              <a:t>“Conserved” is a management category, not a condition state. Three of four are indistinguishable from grazed ground on a 35-year record, and the fourth is an outlier recovering from something that predates the record. Defensible today, no new data.</a:t>
            </a:r>
          </a:p>
        </p:txBody>
      </p:sp>
      <p:sp>
        <p:nvSpPr>
          <p:cNvPr id="9" name="Rounded Rectangle 8"/>
          <p:cNvSpPr/>
          <p:nvPr/>
        </p:nvSpPr>
        <p:spPr>
          <a:xfrm>
            <a:off x="640080" y="2743200"/>
            <a:ext cx="10881360" cy="9601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4400" y="2944368"/>
            <a:ext cx="548640" cy="548640"/>
          </a:xfrm>
          <a:prstGeom prst="ellipse">
            <a:avLst/>
          </a:prstGeom>
          <a:solidFill>
            <a:srgbClr val="9C5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Cambria"/>
              </a:rPr>
              <a:t>2</a:t>
            </a:r>
          </a:p>
        </p:txBody>
      </p:sp>
      <p:sp>
        <p:nvSpPr>
          <p:cNvPr id="11" name="TextBox 10"/>
          <p:cNvSpPr txBox="1"/>
          <p:nvPr/>
        </p:nvSpPr>
        <p:spPr>
          <a:xfrm>
            <a:off x="1737360" y="2926080"/>
            <a:ext cx="2743200" cy="548640"/>
          </a:xfrm>
          <a:prstGeom prst="rect">
            <a:avLst/>
          </a:prstGeom>
          <a:noFill/>
        </p:spPr>
        <p:txBody>
          <a:bodyPr wrap="square" anchor="t" lIns="0" rIns="0" tIns="0" bIns="0">
            <a:spAutoFit/>
          </a:bodyPr>
          <a:lstStyle/>
          <a:p>
            <a:pPr algn="l"/>
            <a:r>
              <a:rPr sz="1350" b="1" i="0">
                <a:solidFill>
                  <a:srgbClr val="26302E"/>
                </a:solidFill>
                <a:latin typeface="Calibri"/>
              </a:rPr>
              <a:t>Get the land-use history</a:t>
            </a:r>
          </a:p>
        </p:txBody>
      </p:sp>
      <p:sp>
        <p:nvSpPr>
          <p:cNvPr id="12" name="TextBox 11"/>
          <p:cNvSpPr txBox="1"/>
          <p:nvPr/>
        </p:nvSpPr>
        <p:spPr>
          <a:xfrm>
            <a:off x="4663440" y="2889504"/>
            <a:ext cx="6583680" cy="731520"/>
          </a:xfrm>
          <a:prstGeom prst="rect">
            <a:avLst/>
          </a:prstGeom>
          <a:noFill/>
        </p:spPr>
        <p:txBody>
          <a:bodyPr wrap="square" anchor="t" lIns="0" rIns="0" tIns="0" bIns="0">
            <a:spAutoFit/>
          </a:bodyPr>
          <a:lstStyle/>
          <a:p>
            <a:pPr algn="l">
              <a:lnSpc>
                <a:spcPts val="1500"/>
              </a:lnSpc>
            </a:pPr>
            <a:r>
              <a:rPr sz="1150" b="0" i="0">
                <a:solidFill>
                  <a:srgbClr val="5F6B67"/>
                </a:solidFill>
                <a:latin typeface="Calibri"/>
              </a:rPr>
              <a:t>If Bala 29ca was cleared or cropped, the whole picture resolves into a recovery trajectory and it becomes the most interesting paddock on the property rather than the most confusing. One email to Ernest.</a:t>
            </a:r>
          </a:p>
        </p:txBody>
      </p:sp>
      <p:sp>
        <p:nvSpPr>
          <p:cNvPr id="13" name="Rounded Rectangle 12"/>
          <p:cNvSpPr/>
          <p:nvPr/>
        </p:nvSpPr>
        <p:spPr>
          <a:xfrm>
            <a:off x="640080" y="3840480"/>
            <a:ext cx="10881360" cy="9601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4041648"/>
            <a:ext cx="548640" cy="548640"/>
          </a:xfrm>
          <a:prstGeom prst="ellipse">
            <a:avLst/>
          </a:prstGeom>
          <a:solidFill>
            <a:srgbClr val="2165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Cambria"/>
              </a:rPr>
              <a:t>3</a:t>
            </a:r>
          </a:p>
        </p:txBody>
      </p:sp>
      <p:sp>
        <p:nvSpPr>
          <p:cNvPr id="15" name="TextBox 14"/>
          <p:cNvSpPr txBox="1"/>
          <p:nvPr/>
        </p:nvSpPr>
        <p:spPr>
          <a:xfrm>
            <a:off x="1737360" y="4023360"/>
            <a:ext cx="2743200" cy="548640"/>
          </a:xfrm>
          <a:prstGeom prst="rect">
            <a:avLst/>
          </a:prstGeom>
          <a:noFill/>
        </p:spPr>
        <p:txBody>
          <a:bodyPr wrap="square" anchor="t" lIns="0" rIns="0" tIns="0" bIns="0">
            <a:spAutoFit/>
          </a:bodyPr>
          <a:lstStyle/>
          <a:p>
            <a:pPr algn="l"/>
            <a:r>
              <a:rPr sz="1350" b="1" i="0">
                <a:solidFill>
                  <a:srgbClr val="26302E"/>
                </a:solidFill>
                <a:latin typeface="Calibri"/>
              </a:rPr>
              <a:t>Define reference environmentally</a:t>
            </a:r>
          </a:p>
        </p:txBody>
      </p:sp>
      <p:sp>
        <p:nvSpPr>
          <p:cNvPr id="16" name="TextBox 15"/>
          <p:cNvSpPr txBox="1"/>
          <p:nvPr/>
        </p:nvSpPr>
        <p:spPr>
          <a:xfrm>
            <a:off x="4663440" y="3986784"/>
            <a:ext cx="6583680" cy="731520"/>
          </a:xfrm>
          <a:prstGeom prst="rect">
            <a:avLst/>
          </a:prstGeom>
          <a:noFill/>
        </p:spPr>
        <p:txBody>
          <a:bodyPr wrap="square" anchor="t" lIns="0" rIns="0" tIns="0" bIns="0">
            <a:spAutoFit/>
          </a:bodyPr>
          <a:lstStyle/>
          <a:p>
            <a:pPr algn="l">
              <a:lnSpc>
                <a:spcPts val="1500"/>
              </a:lnSpc>
            </a:pPr>
            <a:r>
              <a:rPr sz="1150" b="0" i="0">
                <a:solidFill>
                  <a:srgbClr val="5F6B67"/>
                </a:solidFill>
                <a:latin typeface="Calibri"/>
              </a:rPr>
              <a:t>Compare each place to environmentally similar sites rather than to a management category. This is HCAS's premise, and HCAS 3.3 covers 1988–2024 at 90 m annual, matching our span. A redesign.</a:t>
            </a:r>
          </a:p>
        </p:txBody>
      </p:sp>
      <p:sp>
        <p:nvSpPr>
          <p:cNvPr id="17" name="Rounded Rectangle 16"/>
          <p:cNvSpPr/>
          <p:nvPr/>
        </p:nvSpPr>
        <p:spPr>
          <a:xfrm>
            <a:off x="640080" y="4937759"/>
            <a:ext cx="10881360" cy="96012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5138927"/>
            <a:ext cx="548640" cy="548640"/>
          </a:xfrm>
          <a:prstGeom prst="ellipse">
            <a:avLst/>
          </a:prstGeom>
          <a:solidFill>
            <a:srgbClr val="C79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FFFFFF"/>
                </a:solidFill>
                <a:latin typeface="Cambria"/>
              </a:rPr>
              <a:t>4</a:t>
            </a:r>
          </a:p>
        </p:txBody>
      </p:sp>
      <p:sp>
        <p:nvSpPr>
          <p:cNvPr id="19" name="TextBox 18"/>
          <p:cNvSpPr txBox="1"/>
          <p:nvPr/>
        </p:nvSpPr>
        <p:spPr>
          <a:xfrm>
            <a:off x="1737360" y="5120640"/>
            <a:ext cx="2743200" cy="548640"/>
          </a:xfrm>
          <a:prstGeom prst="rect">
            <a:avLst/>
          </a:prstGeom>
          <a:noFill/>
        </p:spPr>
        <p:txBody>
          <a:bodyPr wrap="square" anchor="t" lIns="0" rIns="0" tIns="0" bIns="0">
            <a:spAutoFit/>
          </a:bodyPr>
          <a:lstStyle/>
          <a:p>
            <a:pPr algn="l"/>
            <a:r>
              <a:rPr sz="1350" b="1" i="0">
                <a:solidFill>
                  <a:srgbClr val="26302E"/>
                </a:solidFill>
                <a:latin typeface="Calibri"/>
              </a:rPr>
              <a:t>Drop the reference framing</a:t>
            </a:r>
          </a:p>
        </p:txBody>
      </p:sp>
      <p:sp>
        <p:nvSpPr>
          <p:cNvPr id="20" name="TextBox 19"/>
          <p:cNvSpPr txBox="1"/>
          <p:nvPr/>
        </p:nvSpPr>
        <p:spPr>
          <a:xfrm>
            <a:off x="4663440" y="5084064"/>
            <a:ext cx="6583680" cy="731520"/>
          </a:xfrm>
          <a:prstGeom prst="rect">
            <a:avLst/>
          </a:prstGeom>
          <a:noFill/>
        </p:spPr>
        <p:txBody>
          <a:bodyPr wrap="square" anchor="t" lIns="0" rIns="0" tIns="0" bIns="0">
            <a:spAutoFit/>
          </a:bodyPr>
          <a:lstStyle/>
          <a:p>
            <a:pPr algn="l">
              <a:lnSpc>
                <a:spcPts val="1500"/>
              </a:lnSpc>
            </a:pPr>
            <a:r>
              <a:rPr sz="1150" b="0" i="0">
                <a:solidFill>
                  <a:srgbClr val="5F6B67"/>
                </a:solidFill>
                <a:latin typeface="Calibri"/>
              </a:rPr>
              <a:t>Wetness organises the floor far more strongly than any management category does. That is the finding the data best supports, and the one the client can act on.</a:t>
            </a:r>
          </a:p>
        </p:txBody>
      </p:sp>
      <p:sp>
        <p:nvSpPr>
          <p:cNvPr id="21" name="TextBox 20"/>
          <p:cNvSpPr txBox="1"/>
          <p:nvPr/>
        </p:nvSpPr>
        <p:spPr>
          <a:xfrm>
            <a:off x="640080" y="6126480"/>
            <a:ext cx="10881360" cy="320040"/>
          </a:xfrm>
          <a:prstGeom prst="rect">
            <a:avLst/>
          </a:prstGeom>
          <a:noFill/>
        </p:spPr>
        <p:txBody>
          <a:bodyPr wrap="square" anchor="t" lIns="0" rIns="0" tIns="0" bIns="0">
            <a:spAutoFit/>
          </a:bodyPr>
          <a:lstStyle/>
          <a:p>
            <a:pPr algn="l"/>
            <a:r>
              <a:rPr sz="1150" b="0" i="1">
                <a:solidFill>
                  <a:srgbClr val="8A8378"/>
                </a:solidFill>
                <a:latin typeface="Calibri"/>
              </a:rPr>
              <a:t>Options 1 and 4 are available today. Option 2 is one email. Option 3 is a redesign.</a:t>
            </a:r>
          </a:p>
        </p:txBody>
      </p:sp>
      <p:sp>
        <p:nvSpPr>
          <p:cNvPr id="22" name="TextBox 21"/>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Full reasoning in Gayini_reference_state_methods.md §5–6.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BOUNDS</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What this analysis cannot tell you</a:t>
            </a:r>
          </a:p>
        </p:txBody>
      </p:sp>
      <p:sp>
        <p:nvSpPr>
          <p:cNvPr id="5" name="Oval 4"/>
          <p:cNvSpPr/>
          <p:nvPr/>
        </p:nvSpPr>
        <p:spPr>
          <a:xfrm>
            <a:off x="868680" y="1673352"/>
            <a:ext cx="219456" cy="219456"/>
          </a:xfrm>
          <a:prstGeom prst="ellipse">
            <a:avLst/>
          </a:prstGeom>
          <a:solidFill>
            <a:srgbClr val="9A6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627632"/>
            <a:ext cx="3291840" cy="365760"/>
          </a:xfrm>
          <a:prstGeom prst="rect">
            <a:avLst/>
          </a:prstGeom>
          <a:noFill/>
        </p:spPr>
        <p:txBody>
          <a:bodyPr wrap="square" anchor="t" lIns="0" rIns="0" tIns="0" bIns="0">
            <a:spAutoFit/>
          </a:bodyPr>
          <a:lstStyle/>
          <a:p>
            <a:pPr algn="l"/>
            <a:r>
              <a:rPr sz="1250" b="1" i="0">
                <a:solidFill>
                  <a:srgbClr val="26302E"/>
                </a:solidFill>
                <a:latin typeface="Calibri"/>
              </a:rPr>
              <a:t>Cover, not condition</a:t>
            </a:r>
          </a:p>
        </p:txBody>
      </p:sp>
      <p:sp>
        <p:nvSpPr>
          <p:cNvPr id="7" name="TextBox 6"/>
          <p:cNvSpPr txBox="1"/>
          <p:nvPr/>
        </p:nvSpPr>
        <p:spPr>
          <a:xfrm>
            <a:off x="4709160" y="1609344"/>
            <a:ext cx="6812280" cy="566928"/>
          </a:xfrm>
          <a:prstGeom prst="rect">
            <a:avLst/>
          </a:prstGeom>
          <a:noFill/>
        </p:spPr>
        <p:txBody>
          <a:bodyPr wrap="square" anchor="t" lIns="0" rIns="0" tIns="0" bIns="0">
            <a:spAutoFit/>
          </a:bodyPr>
          <a:lstStyle/>
          <a:p>
            <a:pPr algn="l">
              <a:lnSpc>
                <a:spcPts val="1450"/>
              </a:lnSpc>
            </a:pPr>
            <a:r>
              <a:rPr sz="1150" b="0" i="0">
                <a:solidFill>
                  <a:srgbClr val="5F6B67"/>
                </a:solidFill>
                <a:latin typeface="Calibri"/>
              </a:rPr>
              <a:t>Landsat fractional cover measures how much cover is present — not whether it is native or introduced, nor its structure or health.</a:t>
            </a:r>
          </a:p>
        </p:txBody>
      </p:sp>
      <p:sp>
        <p:nvSpPr>
          <p:cNvPr id="8" name="Oval 7"/>
          <p:cNvSpPr/>
          <p:nvPr/>
        </p:nvSpPr>
        <p:spPr>
          <a:xfrm>
            <a:off x="868680" y="2295144"/>
            <a:ext cx="219456" cy="219456"/>
          </a:xfrm>
          <a:prstGeom prst="ellipse">
            <a:avLst/>
          </a:prstGeom>
          <a:solidFill>
            <a:srgbClr val="9A6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2249424"/>
            <a:ext cx="3291840" cy="365760"/>
          </a:xfrm>
          <a:prstGeom prst="rect">
            <a:avLst/>
          </a:prstGeom>
          <a:noFill/>
        </p:spPr>
        <p:txBody>
          <a:bodyPr wrap="square" anchor="t" lIns="0" rIns="0" tIns="0" bIns="0">
            <a:spAutoFit/>
          </a:bodyPr>
          <a:lstStyle/>
          <a:p>
            <a:pPr algn="l"/>
            <a:r>
              <a:rPr sz="1250" b="1" i="0">
                <a:solidFill>
                  <a:srgbClr val="26302E"/>
                </a:solidFill>
                <a:latin typeface="Calibri"/>
              </a:rPr>
              <a:t>Not grazed is not conserved</a:t>
            </a:r>
          </a:p>
        </p:txBody>
      </p:sp>
      <p:sp>
        <p:nvSpPr>
          <p:cNvPr id="10" name="TextBox 9"/>
          <p:cNvSpPr txBox="1"/>
          <p:nvPr/>
        </p:nvSpPr>
        <p:spPr>
          <a:xfrm>
            <a:off x="4709160" y="2231136"/>
            <a:ext cx="6812280" cy="566928"/>
          </a:xfrm>
          <a:prstGeom prst="rect">
            <a:avLst/>
          </a:prstGeom>
          <a:noFill/>
        </p:spPr>
        <p:txBody>
          <a:bodyPr wrap="square" anchor="t" lIns="0" rIns="0" tIns="0" bIns="0">
            <a:spAutoFit/>
          </a:bodyPr>
          <a:lstStyle/>
          <a:p>
            <a:pPr algn="l">
              <a:lnSpc>
                <a:spcPts val="1450"/>
              </a:lnSpc>
            </a:pPr>
            <a:r>
              <a:rPr sz="1150" b="0" i="0">
                <a:solidFill>
                  <a:srgbClr val="5F6B67"/>
                </a:solidFill>
                <a:latin typeface="Calibri"/>
              </a:rPr>
              <a:t>Cropping history is unrecorded. Every contrast here is not-grazed versus grazed, which is not the comparison the design called for.</a:t>
            </a:r>
          </a:p>
        </p:txBody>
      </p:sp>
      <p:sp>
        <p:nvSpPr>
          <p:cNvPr id="11" name="Oval 10"/>
          <p:cNvSpPr/>
          <p:nvPr/>
        </p:nvSpPr>
        <p:spPr>
          <a:xfrm>
            <a:off x="868680" y="2916936"/>
            <a:ext cx="219456" cy="219456"/>
          </a:xfrm>
          <a:prstGeom prst="ellipse">
            <a:avLst/>
          </a:prstGeom>
          <a:solidFill>
            <a:srgbClr val="9A6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0" y="2871216"/>
            <a:ext cx="3291840" cy="365760"/>
          </a:xfrm>
          <a:prstGeom prst="rect">
            <a:avLst/>
          </a:prstGeom>
          <a:noFill/>
        </p:spPr>
        <p:txBody>
          <a:bodyPr wrap="square" anchor="t" lIns="0" rIns="0" tIns="0" bIns="0">
            <a:spAutoFit/>
          </a:bodyPr>
          <a:lstStyle/>
          <a:p>
            <a:pPr algn="l"/>
            <a:r>
              <a:rPr sz="1250" b="1" i="0">
                <a:solidFill>
                  <a:srgbClr val="26302E"/>
                </a:solidFill>
                <a:latin typeface="Calibri"/>
              </a:rPr>
              <a:t>Open water sits inside the floor metric</a:t>
            </a:r>
          </a:p>
        </p:txBody>
      </p:sp>
      <p:sp>
        <p:nvSpPr>
          <p:cNvPr id="13" name="TextBox 12"/>
          <p:cNvSpPr txBox="1"/>
          <p:nvPr/>
        </p:nvSpPr>
        <p:spPr>
          <a:xfrm>
            <a:off x="4709160" y="2852928"/>
            <a:ext cx="6812280" cy="566928"/>
          </a:xfrm>
          <a:prstGeom prst="rect">
            <a:avLst/>
          </a:prstGeom>
          <a:noFill/>
        </p:spPr>
        <p:txBody>
          <a:bodyPr wrap="square" anchor="t" lIns="0" rIns="0" tIns="0" bIns="0">
            <a:spAutoFit/>
          </a:bodyPr>
          <a:lstStyle/>
          <a:p>
            <a:pPr algn="l">
              <a:lnSpc>
                <a:spcPts val="1450"/>
              </a:lnSpc>
            </a:pPr>
            <a:r>
              <a:rPr sz="1150" b="0" i="0">
                <a:solidFill>
                  <a:srgbClr val="5F6B67"/>
                </a:solidFill>
                <a:latin typeface="Calibri"/>
              </a:rPr>
              <a:t>Water reads as low cover and is not masked before the percentile is taken, so wet paddocks carry a tail that may not be vegetation at all.</a:t>
            </a:r>
          </a:p>
        </p:txBody>
      </p:sp>
      <p:sp>
        <p:nvSpPr>
          <p:cNvPr id="14" name="Oval 13"/>
          <p:cNvSpPr/>
          <p:nvPr/>
        </p:nvSpPr>
        <p:spPr>
          <a:xfrm>
            <a:off x="868680" y="3538728"/>
            <a:ext cx="219456" cy="219456"/>
          </a:xfrm>
          <a:prstGeom prst="ellipse">
            <a:avLst/>
          </a:prstGeom>
          <a:solidFill>
            <a:srgbClr val="9A6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80160" y="3493008"/>
            <a:ext cx="3291840" cy="365760"/>
          </a:xfrm>
          <a:prstGeom prst="rect">
            <a:avLst/>
          </a:prstGeom>
          <a:noFill/>
        </p:spPr>
        <p:txBody>
          <a:bodyPr wrap="square" anchor="t" lIns="0" rIns="0" tIns="0" bIns="0">
            <a:spAutoFit/>
          </a:bodyPr>
          <a:lstStyle/>
          <a:p>
            <a:pPr algn="l"/>
            <a:r>
              <a:rPr sz="1250" b="1" i="0">
                <a:solidFill>
                  <a:srgbClr val="26302E"/>
                </a:solidFill>
                <a:latin typeface="Calibri"/>
              </a:rPr>
              <a:t>Not controlled for wetness</a:t>
            </a:r>
          </a:p>
        </p:txBody>
      </p:sp>
      <p:sp>
        <p:nvSpPr>
          <p:cNvPr id="16" name="TextBox 15"/>
          <p:cNvSpPr txBox="1"/>
          <p:nvPr/>
        </p:nvSpPr>
        <p:spPr>
          <a:xfrm>
            <a:off x="4709160" y="3474720"/>
            <a:ext cx="6812280" cy="566928"/>
          </a:xfrm>
          <a:prstGeom prst="rect">
            <a:avLst/>
          </a:prstGeom>
          <a:noFill/>
        </p:spPr>
        <p:txBody>
          <a:bodyPr wrap="square" anchor="t" lIns="0" rIns="0" tIns="0" bIns="0">
            <a:spAutoFit/>
          </a:bodyPr>
          <a:lstStyle/>
          <a:p>
            <a:pPr algn="l">
              <a:lnSpc>
                <a:spcPts val="1450"/>
              </a:lnSpc>
            </a:pPr>
            <a:r>
              <a:rPr sz="1150" b="0" i="0">
                <a:solidFill>
                  <a:srgbClr val="5F6B67"/>
                </a:solidFill>
                <a:latin typeface="Calibri"/>
              </a:rPr>
              <a:t>Slide 18. T6 controls this by stratum; the headline table does not.</a:t>
            </a:r>
          </a:p>
        </p:txBody>
      </p:sp>
      <p:sp>
        <p:nvSpPr>
          <p:cNvPr id="17" name="Oval 16"/>
          <p:cNvSpPr/>
          <p:nvPr/>
        </p:nvSpPr>
        <p:spPr>
          <a:xfrm>
            <a:off x="868680" y="4160520"/>
            <a:ext cx="219456" cy="219456"/>
          </a:xfrm>
          <a:prstGeom prst="ellipse">
            <a:avLst/>
          </a:prstGeom>
          <a:solidFill>
            <a:srgbClr val="9A6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4114800"/>
            <a:ext cx="3291840" cy="365760"/>
          </a:xfrm>
          <a:prstGeom prst="rect">
            <a:avLst/>
          </a:prstGeom>
          <a:noFill/>
        </p:spPr>
        <p:txBody>
          <a:bodyPr wrap="square" anchor="t" lIns="0" rIns="0" tIns="0" bIns="0">
            <a:spAutoFit/>
          </a:bodyPr>
          <a:lstStyle/>
          <a:p>
            <a:pPr algn="l"/>
            <a:r>
              <a:rPr sz="1250" b="1" i="0">
                <a:solidFill>
                  <a:srgbClr val="26302E"/>
                </a:solidFill>
                <a:latin typeface="Calibri"/>
              </a:rPr>
              <a:t>Aeolian rests on one paddock</a:t>
            </a:r>
          </a:p>
        </p:txBody>
      </p:sp>
      <p:sp>
        <p:nvSpPr>
          <p:cNvPr id="19" name="TextBox 18"/>
          <p:cNvSpPr txBox="1"/>
          <p:nvPr/>
        </p:nvSpPr>
        <p:spPr>
          <a:xfrm>
            <a:off x="4709160" y="4096512"/>
            <a:ext cx="6812280" cy="566928"/>
          </a:xfrm>
          <a:prstGeom prst="rect">
            <a:avLst/>
          </a:prstGeom>
          <a:noFill/>
        </p:spPr>
        <p:txBody>
          <a:bodyPr wrap="square" anchor="t" lIns="0" rIns="0" tIns="0" bIns="0">
            <a:spAutoFit/>
          </a:bodyPr>
          <a:lstStyle/>
          <a:p>
            <a:pPr algn="l">
              <a:lnSpc>
                <a:spcPts val="1450"/>
              </a:lnSpc>
            </a:pPr>
            <a:r>
              <a:rPr sz="1150" b="0" i="0">
                <a:solidFill>
                  <a:srgbClr val="5F6B67"/>
                </a:solidFill>
                <a:latin typeface="Calibri"/>
              </a:rPr>
              <a:t>n = 1 (Bala 29ca). No community-level claim can be built on it.</a:t>
            </a:r>
          </a:p>
        </p:txBody>
      </p:sp>
      <p:sp>
        <p:nvSpPr>
          <p:cNvPr id="20" name="Oval 19"/>
          <p:cNvSpPr/>
          <p:nvPr/>
        </p:nvSpPr>
        <p:spPr>
          <a:xfrm>
            <a:off x="868680" y="4782312"/>
            <a:ext cx="219456" cy="219456"/>
          </a:xfrm>
          <a:prstGeom prst="ellipse">
            <a:avLst/>
          </a:prstGeom>
          <a:solidFill>
            <a:srgbClr val="9A6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80160" y="4736592"/>
            <a:ext cx="3291840" cy="365760"/>
          </a:xfrm>
          <a:prstGeom prst="rect">
            <a:avLst/>
          </a:prstGeom>
          <a:noFill/>
        </p:spPr>
        <p:txBody>
          <a:bodyPr wrap="square" anchor="t" lIns="0" rIns="0" tIns="0" bIns="0">
            <a:spAutoFit/>
          </a:bodyPr>
          <a:lstStyle/>
          <a:p>
            <a:pPr algn="l"/>
            <a:r>
              <a:rPr sz="1250" b="1" i="0">
                <a:solidFill>
                  <a:srgbClr val="26302E"/>
                </a:solidFill>
                <a:latin typeface="Calibri"/>
              </a:rPr>
              <a:t>The third arm is inferred</a:t>
            </a:r>
          </a:p>
        </p:txBody>
      </p:sp>
      <p:sp>
        <p:nvSpPr>
          <p:cNvPr id="22" name="TextBox 21"/>
          <p:cNvSpPr txBox="1"/>
          <p:nvPr/>
        </p:nvSpPr>
        <p:spPr>
          <a:xfrm>
            <a:off x="4709160" y="4718304"/>
            <a:ext cx="6812280" cy="566928"/>
          </a:xfrm>
          <a:prstGeom prst="rect">
            <a:avLst/>
          </a:prstGeom>
          <a:noFill/>
        </p:spPr>
        <p:txBody>
          <a:bodyPr wrap="square" anchor="t" lIns="0" rIns="0" tIns="0" bIns="0">
            <a:spAutoFit/>
          </a:bodyPr>
          <a:lstStyle/>
          <a:p>
            <a:pPr algn="l">
              <a:lnSpc>
                <a:spcPts val="1450"/>
              </a:lnSpc>
            </a:pPr>
            <a:r>
              <a:rPr sz="1150" b="0" i="0">
                <a:solidFill>
                  <a:srgbClr val="5F6B67"/>
                </a:solidFill>
                <a:latin typeface="Calibri"/>
              </a:rPr>
              <a:t>“Unzoned” is inferred to be standard grazing from plot locations. 8 of 15 standard plots fall on it.</a:t>
            </a:r>
          </a:p>
        </p:txBody>
      </p:sp>
      <p:sp>
        <p:nvSpPr>
          <p:cNvPr id="23" name="Oval 22"/>
          <p:cNvSpPr/>
          <p:nvPr/>
        </p:nvSpPr>
        <p:spPr>
          <a:xfrm>
            <a:off x="868680" y="5404104"/>
            <a:ext cx="219456" cy="219456"/>
          </a:xfrm>
          <a:prstGeom prst="ellipse">
            <a:avLst/>
          </a:prstGeom>
          <a:solidFill>
            <a:srgbClr val="9A6B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80160" y="5358384"/>
            <a:ext cx="3291840" cy="365760"/>
          </a:xfrm>
          <a:prstGeom prst="rect">
            <a:avLst/>
          </a:prstGeom>
          <a:noFill/>
        </p:spPr>
        <p:txBody>
          <a:bodyPr wrap="square" anchor="t" lIns="0" rIns="0" tIns="0" bIns="0">
            <a:spAutoFit/>
          </a:bodyPr>
          <a:lstStyle/>
          <a:p>
            <a:pPr algn="l"/>
            <a:r>
              <a:rPr sz="1250" b="1" i="0">
                <a:solidFill>
                  <a:srgbClr val="26302E"/>
                </a:solidFill>
                <a:latin typeface="Calibri"/>
              </a:rPr>
              <a:t>A fifth of the property is unmapped</a:t>
            </a:r>
          </a:p>
        </p:txBody>
      </p:sp>
      <p:sp>
        <p:nvSpPr>
          <p:cNvPr id="25" name="TextBox 24"/>
          <p:cNvSpPr txBox="1"/>
          <p:nvPr/>
        </p:nvSpPr>
        <p:spPr>
          <a:xfrm>
            <a:off x="4709160" y="5340096"/>
            <a:ext cx="6812280" cy="566928"/>
          </a:xfrm>
          <a:prstGeom prst="rect">
            <a:avLst/>
          </a:prstGeom>
          <a:noFill/>
        </p:spPr>
        <p:txBody>
          <a:bodyPr wrap="square" anchor="t" lIns="0" rIns="0" tIns="0" bIns="0">
            <a:spAutoFit/>
          </a:bodyPr>
          <a:lstStyle/>
          <a:p>
            <a:pPr algn="l">
              <a:lnSpc>
                <a:spcPts val="1450"/>
              </a:lnSpc>
            </a:pPr>
            <a:r>
              <a:rPr sz="1150" b="0" i="0">
                <a:solidFill>
                  <a:srgbClr val="5F6B67"/>
                </a:solidFill>
                <a:latin typeface="Calibri"/>
              </a:rPr>
              <a:t>18,562 ha (21.6%) sits outside the mapped census and has never been in any analysis — including 7 of the 15 standard-grazing plots.</a:t>
            </a:r>
          </a:p>
        </p:txBody>
      </p:sp>
      <p:sp>
        <p:nvSpPr>
          <p:cNvPr id="26" name="TextBox 25"/>
          <p:cNvSpPr txBox="1"/>
          <p:nvPr/>
        </p:nvSpPr>
        <p:spPr>
          <a:xfrm>
            <a:off x="822960" y="6053328"/>
            <a:ext cx="10424160" cy="365760"/>
          </a:xfrm>
          <a:prstGeom prst="rect">
            <a:avLst/>
          </a:prstGeom>
          <a:noFill/>
        </p:spPr>
        <p:txBody>
          <a:bodyPr wrap="square" anchor="t" lIns="0" rIns="0" tIns="0" bIns="0">
            <a:spAutoFit/>
          </a:bodyPr>
          <a:lstStyle/>
          <a:p>
            <a:pPr algn="l"/>
            <a:r>
              <a:rPr sz="1300" b="0" i="1">
                <a:solidFill>
                  <a:srgbClr val="26302E"/>
                </a:solidFill>
                <a:latin typeface="Calibri"/>
              </a:rPr>
              <a:t>None of these are reasons not to publish. They are the shape of what can be said.</a:t>
            </a:r>
          </a:p>
        </p:txBody>
      </p:sp>
      <p:sp>
        <p:nvSpPr>
          <p:cNvPr id="27" name="TextBox 26"/>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Full register: Gayini_reference_state_results_catalogue.xlsx, Limitations sheet.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274320"/>
          </a:xfrm>
          <a:prstGeom prst="rect">
            <a:avLst/>
          </a:prstGeom>
          <a:noFill/>
        </p:spPr>
        <p:txBody>
          <a:bodyPr wrap="square" anchor="t" lIns="0" rIns="0" tIns="0" bIns="0">
            <a:spAutoFit/>
          </a:bodyPr>
          <a:lstStyle/>
          <a:p>
            <a:pPr algn="l"/>
            <a:r>
              <a:rPr sz="1100" b="1" i="0">
                <a:solidFill>
                  <a:srgbClr val="9C5B2E"/>
                </a:solidFill>
                <a:latin typeface="Calibri"/>
              </a:rPr>
              <a:t>WHAT COULD BE DONE NEXT</a:t>
            </a:r>
          </a:p>
        </p:txBody>
      </p:sp>
      <p:sp>
        <p:nvSpPr>
          <p:cNvPr id="4" name="TextBox 3"/>
          <p:cNvSpPr txBox="1"/>
          <p:nvPr/>
        </p:nvSpPr>
        <p:spPr>
          <a:xfrm>
            <a:off x="640080" y="685800"/>
            <a:ext cx="10881360" cy="868680"/>
          </a:xfrm>
          <a:prstGeom prst="rect">
            <a:avLst/>
          </a:prstGeom>
          <a:noFill/>
        </p:spPr>
        <p:txBody>
          <a:bodyPr wrap="square" anchor="t" lIns="0" rIns="0" tIns="0" bIns="0">
            <a:spAutoFit/>
          </a:bodyPr>
          <a:lstStyle/>
          <a:p>
            <a:pPr algn="l">
              <a:lnSpc>
                <a:spcPts val="3400"/>
              </a:lnSpc>
            </a:pPr>
            <a:r>
              <a:rPr sz="2900" b="1" i="0">
                <a:solidFill>
                  <a:srgbClr val="26302E"/>
                </a:solidFill>
                <a:latin typeface="Cambria"/>
              </a:rPr>
              <a:t>Six analyses, ordered by value per unit effort</a:t>
            </a:r>
          </a:p>
        </p:txBody>
      </p:sp>
      <p:sp>
        <p:nvSpPr>
          <p:cNvPr id="5" name="TextBox 4"/>
          <p:cNvSpPr txBox="1"/>
          <p:nvPr/>
        </p:nvSpPr>
        <p:spPr>
          <a:xfrm>
            <a:off x="731520" y="1664208"/>
            <a:ext cx="3931920" cy="548640"/>
          </a:xfrm>
          <a:prstGeom prst="rect">
            <a:avLst/>
          </a:prstGeom>
          <a:noFill/>
        </p:spPr>
        <p:txBody>
          <a:bodyPr wrap="square" anchor="t" lIns="0" rIns="0" tIns="0" bIns="0">
            <a:spAutoFit/>
          </a:bodyPr>
          <a:lstStyle/>
          <a:p>
            <a:pPr algn="l">
              <a:lnSpc>
                <a:spcPts val="1700"/>
              </a:lnSpc>
            </a:pPr>
            <a:r>
              <a:rPr sz="1300" b="1" i="0">
                <a:solidFill>
                  <a:srgbClr val="26302E"/>
                </a:solidFill>
                <a:latin typeface="Calibri"/>
              </a:rPr>
              <a:t>Get the land-use history</a:t>
            </a:r>
          </a:p>
        </p:txBody>
      </p:sp>
      <p:sp>
        <p:nvSpPr>
          <p:cNvPr id="6" name="TextBox 5"/>
          <p:cNvSpPr txBox="1"/>
          <p:nvPr/>
        </p:nvSpPr>
        <p:spPr>
          <a:xfrm>
            <a:off x="4846320" y="1682496"/>
            <a:ext cx="2606040" cy="548640"/>
          </a:xfrm>
          <a:prstGeom prst="rect">
            <a:avLst/>
          </a:prstGeom>
          <a:noFill/>
        </p:spPr>
        <p:txBody>
          <a:bodyPr wrap="square" anchor="t" lIns="0" rIns="0" tIns="0" bIns="0">
            <a:spAutoFit/>
          </a:bodyPr>
          <a:lstStyle/>
          <a:p>
            <a:pPr algn="l">
              <a:lnSpc>
                <a:spcPts val="1400"/>
              </a:lnSpc>
            </a:pPr>
            <a:r>
              <a:rPr sz="1100" b="0" i="1">
                <a:solidFill>
                  <a:srgbClr val="9C5B2E"/>
                </a:solidFill>
                <a:latin typeface="Calibri"/>
              </a:rPr>
              <a:t>no analysis — one email</a:t>
            </a:r>
          </a:p>
        </p:txBody>
      </p:sp>
      <p:sp>
        <p:nvSpPr>
          <p:cNvPr id="7" name="TextBox 6"/>
          <p:cNvSpPr txBox="1"/>
          <p:nvPr/>
        </p:nvSpPr>
        <p:spPr>
          <a:xfrm>
            <a:off x="7635240" y="1664208"/>
            <a:ext cx="3886200" cy="640080"/>
          </a:xfrm>
          <a:prstGeom prst="rect">
            <a:avLst/>
          </a:prstGeom>
          <a:noFill/>
        </p:spPr>
        <p:txBody>
          <a:bodyPr wrap="square" anchor="t" lIns="0" rIns="0" tIns="0" bIns="0">
            <a:spAutoFit/>
          </a:bodyPr>
          <a:lstStyle/>
          <a:p>
            <a:pPr algn="l">
              <a:lnSpc>
                <a:spcPts val="1450"/>
              </a:lnSpc>
            </a:pPr>
            <a:r>
              <a:rPr sz="1150" b="0" i="0">
                <a:solidFill>
                  <a:srgbClr val="5F6B67"/>
                </a:solidFill>
                <a:latin typeface="Calibri"/>
              </a:rPr>
              <a:t>Whether Bala 29ca is a degraded paddock recovering from clearing. Decisive for the entire framing.</a:t>
            </a:r>
          </a:p>
        </p:txBody>
      </p:sp>
      <p:sp>
        <p:nvSpPr>
          <p:cNvPr id="8" name="TextBox 7"/>
          <p:cNvSpPr txBox="1"/>
          <p:nvPr/>
        </p:nvSpPr>
        <p:spPr>
          <a:xfrm>
            <a:off x="731520" y="2395728"/>
            <a:ext cx="3931920" cy="548640"/>
          </a:xfrm>
          <a:prstGeom prst="rect">
            <a:avLst/>
          </a:prstGeom>
          <a:noFill/>
        </p:spPr>
        <p:txBody>
          <a:bodyPr wrap="square" anchor="t" lIns="0" rIns="0" tIns="0" bIns="0">
            <a:spAutoFit/>
          </a:bodyPr>
          <a:lstStyle/>
          <a:p>
            <a:pPr algn="l">
              <a:lnSpc>
                <a:spcPts val="1700"/>
              </a:lnSpc>
            </a:pPr>
            <a:r>
              <a:rPr sz="1300" b="1" i="0">
                <a:solidFill>
                  <a:srgbClr val="26302E"/>
                </a:solidFill>
                <a:latin typeface="Calibri"/>
              </a:rPr>
              <a:t>Mask open water before the percentile</a:t>
            </a:r>
          </a:p>
        </p:txBody>
      </p:sp>
      <p:sp>
        <p:nvSpPr>
          <p:cNvPr id="9" name="TextBox 8"/>
          <p:cNvSpPr txBox="1"/>
          <p:nvPr/>
        </p:nvSpPr>
        <p:spPr>
          <a:xfrm>
            <a:off x="4846320" y="2414016"/>
            <a:ext cx="2606040" cy="548640"/>
          </a:xfrm>
          <a:prstGeom prst="rect">
            <a:avLst/>
          </a:prstGeom>
          <a:noFill/>
        </p:spPr>
        <p:txBody>
          <a:bodyPr wrap="square" anchor="t" lIns="0" rIns="0" tIns="0" bIns="0">
            <a:spAutoFit/>
          </a:bodyPr>
          <a:lstStyle/>
          <a:p>
            <a:pPr algn="l">
              <a:lnSpc>
                <a:spcPts val="1400"/>
              </a:lnSpc>
            </a:pPr>
            <a:r>
              <a:rPr sz="1100" b="0" i="1">
                <a:solidFill>
                  <a:srgbClr val="9C5B2E"/>
                </a:solidFill>
                <a:latin typeface="Calibri"/>
              </a:rPr>
              <a:t>one extraction re-run</a:t>
            </a:r>
          </a:p>
        </p:txBody>
      </p:sp>
      <p:sp>
        <p:nvSpPr>
          <p:cNvPr id="10" name="TextBox 9"/>
          <p:cNvSpPr txBox="1"/>
          <p:nvPr/>
        </p:nvSpPr>
        <p:spPr>
          <a:xfrm>
            <a:off x="7635240" y="2395728"/>
            <a:ext cx="3886200" cy="640080"/>
          </a:xfrm>
          <a:prstGeom prst="rect">
            <a:avLst/>
          </a:prstGeom>
          <a:noFill/>
        </p:spPr>
        <p:txBody>
          <a:bodyPr wrap="square" anchor="t" lIns="0" rIns="0" tIns="0" bIns="0">
            <a:spAutoFit/>
          </a:bodyPr>
          <a:lstStyle/>
          <a:p>
            <a:pPr algn="l">
              <a:lnSpc>
                <a:spcPts val="1450"/>
              </a:lnSpc>
            </a:pPr>
            <a:r>
              <a:rPr sz="1150" b="0" i="0">
                <a:solidFill>
                  <a:srgbClr val="5F6B67"/>
                </a:solidFill>
                <a:latin typeface="Calibri"/>
              </a:rPr>
              <a:t>Whether the reference paddocks' longer tails are sparse vegetation or standing water.</a:t>
            </a:r>
          </a:p>
        </p:txBody>
      </p:sp>
      <p:sp>
        <p:nvSpPr>
          <p:cNvPr id="11" name="TextBox 10"/>
          <p:cNvSpPr txBox="1"/>
          <p:nvPr/>
        </p:nvSpPr>
        <p:spPr>
          <a:xfrm>
            <a:off x="731520" y="3127248"/>
            <a:ext cx="3931920" cy="548640"/>
          </a:xfrm>
          <a:prstGeom prst="rect">
            <a:avLst/>
          </a:prstGeom>
          <a:noFill/>
        </p:spPr>
        <p:txBody>
          <a:bodyPr wrap="square" anchor="t" lIns="0" rIns="0" tIns="0" bIns="0">
            <a:spAutoFit/>
          </a:bodyPr>
          <a:lstStyle/>
          <a:p>
            <a:pPr algn="l">
              <a:lnSpc>
                <a:spcPts val="1700"/>
              </a:lnSpc>
            </a:pPr>
            <a:r>
              <a:rPr sz="1300" b="1" i="0">
                <a:solidFill>
                  <a:srgbClr val="26302E"/>
                </a:solidFill>
                <a:latin typeface="Calibri"/>
              </a:rPr>
              <a:t>Re-cut the headline at stratum grain</a:t>
            </a:r>
          </a:p>
        </p:txBody>
      </p:sp>
      <p:sp>
        <p:nvSpPr>
          <p:cNvPr id="12" name="TextBox 11"/>
          <p:cNvSpPr txBox="1"/>
          <p:nvPr/>
        </p:nvSpPr>
        <p:spPr>
          <a:xfrm>
            <a:off x="4846320" y="3145536"/>
            <a:ext cx="2606040" cy="548640"/>
          </a:xfrm>
          <a:prstGeom prst="rect">
            <a:avLst/>
          </a:prstGeom>
          <a:noFill/>
        </p:spPr>
        <p:txBody>
          <a:bodyPr wrap="square" anchor="t" lIns="0" rIns="0" tIns="0" bIns="0">
            <a:spAutoFit/>
          </a:bodyPr>
          <a:lstStyle/>
          <a:p>
            <a:pPr algn="l">
              <a:lnSpc>
                <a:spcPts val="1400"/>
              </a:lnSpc>
            </a:pPr>
            <a:r>
              <a:rPr sz="1100" b="0" i="1">
                <a:solidFill>
                  <a:srgbClr val="9C5B2E"/>
                </a:solidFill>
                <a:latin typeface="Calibri"/>
              </a:rPr>
              <a:t>a query, no new extraction</a:t>
            </a:r>
          </a:p>
        </p:txBody>
      </p:sp>
      <p:sp>
        <p:nvSpPr>
          <p:cNvPr id="13" name="TextBox 12"/>
          <p:cNvSpPr txBox="1"/>
          <p:nvPr/>
        </p:nvSpPr>
        <p:spPr>
          <a:xfrm>
            <a:off x="7635240" y="3127248"/>
            <a:ext cx="3886200" cy="640080"/>
          </a:xfrm>
          <a:prstGeom prst="rect">
            <a:avLst/>
          </a:prstGeom>
          <a:noFill/>
        </p:spPr>
        <p:txBody>
          <a:bodyPr wrap="square" anchor="t" lIns="0" rIns="0" tIns="0" bIns="0">
            <a:spAutoFit/>
          </a:bodyPr>
          <a:lstStyle/>
          <a:p>
            <a:pPr algn="l">
              <a:lnSpc>
                <a:spcPts val="1450"/>
              </a:lnSpc>
            </a:pPr>
            <a:r>
              <a:rPr sz="1150" b="0" i="0">
                <a:solidFill>
                  <a:srgbClr val="5F6B67"/>
                </a:solidFill>
                <a:latin typeface="Calibri"/>
              </a:rPr>
              <a:t>How much of the Bala 29ca gap survives wetness control. Current estimate: about −17 pp of the −42.</a:t>
            </a:r>
          </a:p>
        </p:txBody>
      </p:sp>
      <p:sp>
        <p:nvSpPr>
          <p:cNvPr id="14" name="TextBox 13"/>
          <p:cNvSpPr txBox="1"/>
          <p:nvPr/>
        </p:nvSpPr>
        <p:spPr>
          <a:xfrm>
            <a:off x="731520" y="3858768"/>
            <a:ext cx="3931920" cy="548640"/>
          </a:xfrm>
          <a:prstGeom prst="rect">
            <a:avLst/>
          </a:prstGeom>
          <a:noFill/>
        </p:spPr>
        <p:txBody>
          <a:bodyPr wrap="square" anchor="t" lIns="0" rIns="0" tIns="0" bIns="0">
            <a:spAutoFit/>
          </a:bodyPr>
          <a:lstStyle/>
          <a:p>
            <a:pPr algn="l">
              <a:lnSpc>
                <a:spcPts val="1700"/>
              </a:lnSpc>
            </a:pPr>
            <a:r>
              <a:rPr sz="1300" b="1" i="0">
                <a:solidFill>
                  <a:srgbClr val="26302E"/>
                </a:solidFill>
                <a:latin typeface="Calibri"/>
              </a:rPr>
              <a:t>Map the floor and the wetness by paddock</a:t>
            </a:r>
          </a:p>
        </p:txBody>
      </p:sp>
      <p:sp>
        <p:nvSpPr>
          <p:cNvPr id="15" name="TextBox 14"/>
          <p:cNvSpPr txBox="1"/>
          <p:nvPr/>
        </p:nvSpPr>
        <p:spPr>
          <a:xfrm>
            <a:off x="4846320" y="3877056"/>
            <a:ext cx="2606040" cy="548640"/>
          </a:xfrm>
          <a:prstGeom prst="rect">
            <a:avLst/>
          </a:prstGeom>
          <a:noFill/>
        </p:spPr>
        <p:txBody>
          <a:bodyPr wrap="square" anchor="t" lIns="0" rIns="0" tIns="0" bIns="0">
            <a:spAutoFit/>
          </a:bodyPr>
          <a:lstStyle/>
          <a:p>
            <a:pPr algn="l">
              <a:lnSpc>
                <a:spcPts val="1400"/>
              </a:lnSpc>
            </a:pPr>
            <a:r>
              <a:rPr sz="1100" b="0" i="1">
                <a:solidFill>
                  <a:srgbClr val="9C5B2E"/>
                </a:solidFill>
                <a:latin typeface="Calibri"/>
              </a:rPr>
              <a:t>two maps from existing tables</a:t>
            </a:r>
          </a:p>
        </p:txBody>
      </p:sp>
      <p:sp>
        <p:nvSpPr>
          <p:cNvPr id="16" name="TextBox 15"/>
          <p:cNvSpPr txBox="1"/>
          <p:nvPr/>
        </p:nvSpPr>
        <p:spPr>
          <a:xfrm>
            <a:off x="7635240" y="3858768"/>
            <a:ext cx="3886200" cy="640080"/>
          </a:xfrm>
          <a:prstGeom prst="rect">
            <a:avLst/>
          </a:prstGeom>
          <a:noFill/>
        </p:spPr>
        <p:txBody>
          <a:bodyPr wrap="square" anchor="t" lIns="0" rIns="0" tIns="0" bIns="0">
            <a:spAutoFit/>
          </a:bodyPr>
          <a:lstStyle/>
          <a:p>
            <a:pPr algn="l">
              <a:lnSpc>
                <a:spcPts val="1450"/>
              </a:lnSpc>
            </a:pPr>
            <a:r>
              <a:rPr sz="1150" b="0" i="0">
                <a:solidFill>
                  <a:srgbClr val="5F6B67"/>
                </a:solidFill>
                <a:latin typeface="Calibri"/>
              </a:rPr>
              <a:t>Whether the pattern is a management pattern or a hydrological one, visible at a glance.</a:t>
            </a:r>
          </a:p>
        </p:txBody>
      </p:sp>
      <p:sp>
        <p:nvSpPr>
          <p:cNvPr id="17" name="TextBox 16"/>
          <p:cNvSpPr txBox="1"/>
          <p:nvPr/>
        </p:nvSpPr>
        <p:spPr>
          <a:xfrm>
            <a:off x="731520" y="4590288"/>
            <a:ext cx="3931920" cy="548640"/>
          </a:xfrm>
          <a:prstGeom prst="rect">
            <a:avLst/>
          </a:prstGeom>
          <a:noFill/>
        </p:spPr>
        <p:txBody>
          <a:bodyPr wrap="square" anchor="t" lIns="0" rIns="0" tIns="0" bIns="0">
            <a:spAutoFit/>
          </a:bodyPr>
          <a:lstStyle/>
          <a:p>
            <a:pPr algn="l">
              <a:lnSpc>
                <a:spcPts val="1700"/>
              </a:lnSpc>
            </a:pPr>
            <a:r>
              <a:rPr sz="1300" b="1" i="0">
                <a:solidFill>
                  <a:srgbClr val="26302E"/>
                </a:solidFill>
                <a:latin typeface="Calibri"/>
              </a:rPr>
              <a:t>Regress the floor on wetness, read residuals</a:t>
            </a:r>
          </a:p>
        </p:txBody>
      </p:sp>
      <p:sp>
        <p:nvSpPr>
          <p:cNvPr id="18" name="TextBox 17"/>
          <p:cNvSpPr txBox="1"/>
          <p:nvPr/>
        </p:nvSpPr>
        <p:spPr>
          <a:xfrm>
            <a:off x="4846320" y="4608576"/>
            <a:ext cx="2606040" cy="548640"/>
          </a:xfrm>
          <a:prstGeom prst="rect">
            <a:avLst/>
          </a:prstGeom>
          <a:noFill/>
        </p:spPr>
        <p:txBody>
          <a:bodyPr wrap="square" anchor="t" lIns="0" rIns="0" tIns="0" bIns="0">
            <a:spAutoFit/>
          </a:bodyPr>
          <a:lstStyle/>
          <a:p>
            <a:pPr algn="l">
              <a:lnSpc>
                <a:spcPts val="1400"/>
              </a:lnSpc>
            </a:pPr>
            <a:r>
              <a:rPr sz="1100" b="0" i="1">
                <a:solidFill>
                  <a:srgbClr val="9C5B2E"/>
                </a:solidFill>
                <a:latin typeface="Calibri"/>
              </a:rPr>
              <a:t>established method, public R package</a:t>
            </a:r>
          </a:p>
        </p:txBody>
      </p:sp>
      <p:sp>
        <p:nvSpPr>
          <p:cNvPr id="19" name="TextBox 18"/>
          <p:cNvSpPr txBox="1"/>
          <p:nvPr/>
        </p:nvSpPr>
        <p:spPr>
          <a:xfrm>
            <a:off x="7635240" y="4590288"/>
            <a:ext cx="3886200" cy="640080"/>
          </a:xfrm>
          <a:prstGeom prst="rect">
            <a:avLst/>
          </a:prstGeom>
          <a:noFill/>
        </p:spPr>
        <p:txBody>
          <a:bodyPr wrap="square" anchor="t" lIns="0" rIns="0" tIns="0" bIns="0">
            <a:spAutoFit/>
          </a:bodyPr>
          <a:lstStyle/>
          <a:p>
            <a:pPr algn="l">
              <a:lnSpc>
                <a:spcPts val="1450"/>
              </a:lnSpc>
            </a:pPr>
            <a:r>
              <a:rPr sz="1150" b="0" i="0">
                <a:solidFill>
                  <a:srgbClr val="5F6B67"/>
                </a:solidFill>
                <a:latin typeface="Calibri"/>
              </a:rPr>
              <a:t>Which paddocks do better or worse than their wetness predicts — a far better management signal than any raw contrast.</a:t>
            </a:r>
          </a:p>
        </p:txBody>
      </p:sp>
      <p:sp>
        <p:nvSpPr>
          <p:cNvPr id="20" name="TextBox 19"/>
          <p:cNvSpPr txBox="1"/>
          <p:nvPr/>
        </p:nvSpPr>
        <p:spPr>
          <a:xfrm>
            <a:off x="731520" y="5321808"/>
            <a:ext cx="3931920" cy="548640"/>
          </a:xfrm>
          <a:prstGeom prst="rect">
            <a:avLst/>
          </a:prstGeom>
          <a:noFill/>
        </p:spPr>
        <p:txBody>
          <a:bodyPr wrap="square" anchor="t" lIns="0" rIns="0" tIns="0" bIns="0">
            <a:spAutoFit/>
          </a:bodyPr>
          <a:lstStyle/>
          <a:p>
            <a:pPr algn="l">
              <a:lnSpc>
                <a:spcPts val="1700"/>
              </a:lnSpc>
            </a:pPr>
            <a:r>
              <a:rPr sz="1300" b="1" i="0">
                <a:solidFill>
                  <a:srgbClr val="26302E"/>
                </a:solidFill>
                <a:latin typeface="Calibri"/>
              </a:rPr>
              <a:t>Refugia surface against the LiDAR lignum swamp</a:t>
            </a:r>
          </a:p>
        </p:txBody>
      </p:sp>
      <p:sp>
        <p:nvSpPr>
          <p:cNvPr id="21" name="TextBox 20"/>
          <p:cNvSpPr txBox="1"/>
          <p:nvPr/>
        </p:nvSpPr>
        <p:spPr>
          <a:xfrm>
            <a:off x="4846320" y="5340096"/>
            <a:ext cx="2606040" cy="548640"/>
          </a:xfrm>
          <a:prstGeom prst="rect">
            <a:avLst/>
          </a:prstGeom>
          <a:noFill/>
        </p:spPr>
        <p:txBody>
          <a:bodyPr wrap="square" anchor="t" lIns="0" rIns="0" tIns="0" bIns="0">
            <a:spAutoFit/>
          </a:bodyPr>
          <a:lstStyle/>
          <a:p>
            <a:pPr algn="l">
              <a:lnSpc>
                <a:spcPts val="1400"/>
              </a:lnSpc>
            </a:pPr>
            <a:r>
              <a:rPr sz="1100" b="0" i="1">
                <a:solidFill>
                  <a:srgbClr val="9C5B2E"/>
                </a:solidFill>
                <a:latin typeface="Calibri"/>
              </a:rPr>
              <a:t>T3 is specified but not yet built</a:t>
            </a:r>
          </a:p>
        </p:txBody>
      </p:sp>
      <p:sp>
        <p:nvSpPr>
          <p:cNvPr id="22" name="TextBox 21"/>
          <p:cNvSpPr txBox="1"/>
          <p:nvPr/>
        </p:nvSpPr>
        <p:spPr>
          <a:xfrm>
            <a:off x="7635240" y="5321808"/>
            <a:ext cx="3886200" cy="640080"/>
          </a:xfrm>
          <a:prstGeom prst="rect">
            <a:avLst/>
          </a:prstGeom>
          <a:noFill/>
        </p:spPr>
        <p:txBody>
          <a:bodyPr wrap="square" anchor="t" lIns="0" rIns="0" tIns="0" bIns="0">
            <a:spAutoFit/>
          </a:bodyPr>
          <a:lstStyle/>
          <a:p>
            <a:pPr algn="l">
              <a:lnSpc>
                <a:spcPts val="1450"/>
              </a:lnSpc>
            </a:pPr>
            <a:r>
              <a:rPr sz="1150" b="0" i="0">
                <a:solidFill>
                  <a:srgbClr val="5F6B67"/>
                </a:solidFill>
                <a:latin typeface="Calibri"/>
              </a:rPr>
              <a:t>Whether two independent sensors agree on the same ground, which would weaken the cover-not-condition caveat.</a:t>
            </a:r>
          </a:p>
        </p:txBody>
      </p:sp>
      <p:sp>
        <p:nvSpPr>
          <p:cNvPr id="23" name="TextBox 22"/>
          <p:cNvSpPr txBox="1"/>
          <p:nvPr/>
        </p:nvSpPr>
        <p:spPr>
          <a:xfrm>
            <a:off x="731520" y="6080760"/>
            <a:ext cx="10789920" cy="365760"/>
          </a:xfrm>
          <a:prstGeom prst="rect">
            <a:avLst/>
          </a:prstGeom>
          <a:noFill/>
        </p:spPr>
        <p:txBody>
          <a:bodyPr wrap="square" anchor="t" lIns="0" rIns="0" tIns="0" bIns="0">
            <a:spAutoFit/>
          </a:bodyPr>
          <a:lstStyle/>
          <a:p>
            <a:pPr algn="l"/>
            <a:r>
              <a:rPr sz="1150" b="0" i="1">
                <a:solidFill>
                  <a:srgbClr val="8A8378"/>
                </a:solidFill>
                <a:latin typeface="Calibri"/>
              </a:rPr>
              <a:t>The first two cost nothing and settle the most. The full list of twelve is in the results catalogue.</a:t>
            </a:r>
          </a:p>
        </p:txBody>
      </p:sp>
      <p:sp>
        <p:nvSpPr>
          <p:cNvPr id="24" name="TextBox 23"/>
          <p:cNvSpPr txBox="1"/>
          <p:nvPr/>
        </p:nvSpPr>
        <p:spPr>
          <a:xfrm>
            <a:off x="640080" y="6382512"/>
            <a:ext cx="10881360" cy="320040"/>
          </a:xfrm>
          <a:prstGeom prst="rect">
            <a:avLst/>
          </a:prstGeom>
          <a:noFill/>
        </p:spPr>
        <p:txBody>
          <a:bodyPr wrap="square" anchor="t" lIns="0" rIns="0" tIns="0" bIns="0">
            <a:spAutoFit/>
          </a:bodyPr>
          <a:lstStyle/>
          <a:p>
            <a:pPr algn="l"/>
            <a:r>
              <a:rPr sz="900" b="0" i="1">
                <a:solidFill>
                  <a:srgbClr val="8A8378"/>
                </a:solidFill>
                <a:latin typeface="Calibri"/>
              </a:rPr>
              <a:t>Gayini_reference_state_results_catalogue.xlsx, Further_analysis sheet.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17320"/>
            <a:ext cx="10515600" cy="914400"/>
          </a:xfrm>
          <a:prstGeom prst="rect">
            <a:avLst/>
          </a:prstGeom>
          <a:noFill/>
        </p:spPr>
        <p:txBody>
          <a:bodyPr wrap="square" anchor="t" lIns="0" rIns="0" tIns="0" bIns="0">
            <a:spAutoFit/>
          </a:bodyPr>
          <a:lstStyle/>
          <a:p>
            <a:pPr algn="l">
              <a:lnSpc>
                <a:spcPts val="4400"/>
              </a:lnSpc>
            </a:pPr>
            <a:r>
              <a:rPr sz="3600" b="1" i="0">
                <a:solidFill>
                  <a:srgbClr val="FFFFFF"/>
                </a:solidFill>
                <a:latin typeface="Cambria"/>
              </a:rPr>
              <a:t>Three questions would change the answer</a:t>
            </a:r>
          </a:p>
        </p:txBody>
      </p:sp>
      <p:sp>
        <p:nvSpPr>
          <p:cNvPr id="4" name="TextBox 3"/>
          <p:cNvSpPr txBox="1"/>
          <p:nvPr/>
        </p:nvSpPr>
        <p:spPr>
          <a:xfrm>
            <a:off x="822960" y="2743200"/>
            <a:ext cx="45720" cy="274320"/>
          </a:xfrm>
          <a:prstGeom prst="rect">
            <a:avLst/>
          </a:prstGeom>
          <a:noFill/>
        </p:spPr>
        <p:txBody>
          <a:bodyPr wrap="square" anchor="t" lIns="0" rIns="0" tIns="0" bIns="0">
            <a:spAutoFit/>
          </a:bodyPr>
          <a:lstStyle/>
          <a:p>
            <a:pPr algn="l"/>
            <a:r>
              <a:rPr sz="900" b="0" i="0">
                <a:solidFill>
                  <a:srgbClr val="5F6B67"/>
                </a:solidFill>
                <a:latin typeface="Calibri"/>
              </a:rPr>
              <a:t/>
            </a:r>
          </a:p>
        </p:txBody>
      </p:sp>
      <p:sp>
        <p:nvSpPr>
          <p:cNvPr id="5" name="TextBox 4"/>
          <p:cNvSpPr txBox="1"/>
          <p:nvPr/>
        </p:nvSpPr>
        <p:spPr>
          <a:xfrm>
            <a:off x="822960" y="2743200"/>
            <a:ext cx="1737360" cy="320040"/>
          </a:xfrm>
          <a:prstGeom prst="rect">
            <a:avLst/>
          </a:prstGeom>
          <a:noFill/>
        </p:spPr>
        <p:txBody>
          <a:bodyPr wrap="square" anchor="t" lIns="0" rIns="0" tIns="0" bIns="0">
            <a:spAutoFit/>
          </a:bodyPr>
          <a:lstStyle/>
          <a:p>
            <a:pPr algn="l"/>
            <a:r>
              <a:rPr sz="1050" b="1" i="0">
                <a:solidFill>
                  <a:srgbClr val="C79A3B"/>
                </a:solidFill>
                <a:latin typeface="Calibri"/>
              </a:rPr>
              <a:t>ERNEST</a:t>
            </a:r>
          </a:p>
        </p:txBody>
      </p:sp>
      <p:sp>
        <p:nvSpPr>
          <p:cNvPr id="6" name="TextBox 5"/>
          <p:cNvSpPr txBox="1"/>
          <p:nvPr/>
        </p:nvSpPr>
        <p:spPr>
          <a:xfrm>
            <a:off x="2743200" y="2706624"/>
            <a:ext cx="4663440" cy="640080"/>
          </a:xfrm>
          <a:prstGeom prst="rect">
            <a:avLst/>
          </a:prstGeom>
          <a:noFill/>
        </p:spPr>
        <p:txBody>
          <a:bodyPr wrap="square" anchor="t" lIns="0" rIns="0" tIns="0" bIns="0">
            <a:spAutoFit/>
          </a:bodyPr>
          <a:lstStyle/>
          <a:p>
            <a:pPr algn="l">
              <a:lnSpc>
                <a:spcPts val="1900"/>
              </a:lnSpc>
            </a:pPr>
            <a:r>
              <a:rPr sz="1400" b="1" i="0">
                <a:solidFill>
                  <a:srgbClr val="FFFFFF"/>
                </a:solidFill>
                <a:latin typeface="Calibri"/>
              </a:rPr>
              <a:t>Was Bala 29ca ever cleared or cropped?</a:t>
            </a:r>
          </a:p>
        </p:txBody>
      </p:sp>
      <p:sp>
        <p:nvSpPr>
          <p:cNvPr id="7" name="TextBox 6"/>
          <p:cNvSpPr txBox="1"/>
          <p:nvPr/>
        </p:nvSpPr>
        <p:spPr>
          <a:xfrm>
            <a:off x="7680960" y="2724912"/>
            <a:ext cx="3840480" cy="640080"/>
          </a:xfrm>
          <a:prstGeom prst="rect">
            <a:avLst/>
          </a:prstGeom>
          <a:noFill/>
        </p:spPr>
        <p:txBody>
          <a:bodyPr wrap="square" anchor="t" lIns="0" rIns="0" tIns="0" bIns="0">
            <a:spAutoFit/>
          </a:bodyPr>
          <a:lstStyle/>
          <a:p>
            <a:pPr algn="l">
              <a:lnSpc>
                <a:spcPts val="1500"/>
              </a:lnSpc>
            </a:pPr>
            <a:r>
              <a:rPr sz="1150" b="0" i="0">
                <a:solidFill>
                  <a:srgbClr val="BFCFD2"/>
                </a:solidFill>
                <a:latin typeface="Calibri"/>
              </a:rPr>
              <a:t>Decisive. Settles whether the reference set contains a recovering degraded paddock.</a:t>
            </a:r>
          </a:p>
        </p:txBody>
      </p:sp>
      <p:sp>
        <p:nvSpPr>
          <p:cNvPr id="8" name="TextBox 7"/>
          <p:cNvSpPr txBox="1"/>
          <p:nvPr/>
        </p:nvSpPr>
        <p:spPr>
          <a:xfrm>
            <a:off x="822960" y="3703320"/>
            <a:ext cx="45720" cy="274320"/>
          </a:xfrm>
          <a:prstGeom prst="rect">
            <a:avLst/>
          </a:prstGeom>
          <a:noFill/>
        </p:spPr>
        <p:txBody>
          <a:bodyPr wrap="square" anchor="t" lIns="0" rIns="0" tIns="0" bIns="0">
            <a:spAutoFit/>
          </a:bodyPr>
          <a:lstStyle/>
          <a:p>
            <a:pPr algn="l"/>
            <a:r>
              <a:rPr sz="900" b="0" i="0">
                <a:solidFill>
                  <a:srgbClr val="5F6B67"/>
                </a:solidFill>
                <a:latin typeface="Calibri"/>
              </a:rPr>
              <a:t/>
            </a:r>
          </a:p>
        </p:txBody>
      </p:sp>
      <p:sp>
        <p:nvSpPr>
          <p:cNvPr id="9" name="TextBox 8"/>
          <p:cNvSpPr txBox="1"/>
          <p:nvPr/>
        </p:nvSpPr>
        <p:spPr>
          <a:xfrm>
            <a:off x="822960" y="3703320"/>
            <a:ext cx="1737360" cy="320040"/>
          </a:xfrm>
          <a:prstGeom prst="rect">
            <a:avLst/>
          </a:prstGeom>
          <a:noFill/>
        </p:spPr>
        <p:txBody>
          <a:bodyPr wrap="square" anchor="t" lIns="0" rIns="0" tIns="0" bIns="0">
            <a:spAutoFit/>
          </a:bodyPr>
          <a:lstStyle/>
          <a:p>
            <a:pPr algn="l"/>
            <a:r>
              <a:rPr sz="1050" b="1" i="0">
                <a:solidFill>
                  <a:srgbClr val="C79A3B"/>
                </a:solidFill>
                <a:latin typeface="Calibri"/>
              </a:rPr>
              <a:t>NARI NARI</a:t>
            </a:r>
          </a:p>
        </p:txBody>
      </p:sp>
      <p:sp>
        <p:nvSpPr>
          <p:cNvPr id="10" name="TextBox 9"/>
          <p:cNvSpPr txBox="1"/>
          <p:nvPr/>
        </p:nvSpPr>
        <p:spPr>
          <a:xfrm>
            <a:off x="2743200" y="3666744"/>
            <a:ext cx="4663440" cy="640080"/>
          </a:xfrm>
          <a:prstGeom prst="rect">
            <a:avLst/>
          </a:prstGeom>
          <a:noFill/>
        </p:spPr>
        <p:txBody>
          <a:bodyPr wrap="square" anchor="t" lIns="0" rIns="0" tIns="0" bIns="0">
            <a:spAutoFit/>
          </a:bodyPr>
          <a:lstStyle/>
          <a:p>
            <a:pPr algn="l">
              <a:lnSpc>
                <a:spcPts val="1900"/>
              </a:lnSpc>
            </a:pPr>
            <a:r>
              <a:rPr sz="1400" b="1" i="0">
                <a:solidFill>
                  <a:srgbClr val="FFFFFF"/>
                </a:solidFill>
                <a:latin typeface="Calibri"/>
              </a:rPr>
              <a:t>Is the unzoned land grazed more, less, or not at all?</a:t>
            </a:r>
          </a:p>
        </p:txBody>
      </p:sp>
      <p:sp>
        <p:nvSpPr>
          <p:cNvPr id="11" name="TextBox 10"/>
          <p:cNvSpPr txBox="1"/>
          <p:nvPr/>
        </p:nvSpPr>
        <p:spPr>
          <a:xfrm>
            <a:off x="7680960" y="3685032"/>
            <a:ext cx="3840480" cy="640080"/>
          </a:xfrm>
          <a:prstGeom prst="rect">
            <a:avLst/>
          </a:prstGeom>
          <a:noFill/>
        </p:spPr>
        <p:txBody>
          <a:bodyPr wrap="square" anchor="t" lIns="0" rIns="0" tIns="0" bIns="0">
            <a:spAutoFit/>
          </a:bodyPr>
          <a:lstStyle/>
          <a:p>
            <a:pPr algn="l">
              <a:lnSpc>
                <a:spcPts val="1500"/>
              </a:lnSpc>
            </a:pPr>
            <a:r>
              <a:rPr sz="1150" b="0" i="0">
                <a:solidFill>
                  <a:srgbClr val="BFCFD2"/>
                </a:solidFill>
                <a:latin typeface="Calibri"/>
              </a:rPr>
              <a:t>Decides between the two readings of the third arm.</a:t>
            </a:r>
          </a:p>
        </p:txBody>
      </p:sp>
      <p:sp>
        <p:nvSpPr>
          <p:cNvPr id="12" name="TextBox 11"/>
          <p:cNvSpPr txBox="1"/>
          <p:nvPr/>
        </p:nvSpPr>
        <p:spPr>
          <a:xfrm>
            <a:off x="822960" y="4663440"/>
            <a:ext cx="45720" cy="274320"/>
          </a:xfrm>
          <a:prstGeom prst="rect">
            <a:avLst/>
          </a:prstGeom>
          <a:noFill/>
        </p:spPr>
        <p:txBody>
          <a:bodyPr wrap="square" anchor="t" lIns="0" rIns="0" tIns="0" bIns="0">
            <a:spAutoFit/>
          </a:bodyPr>
          <a:lstStyle/>
          <a:p>
            <a:pPr algn="l"/>
            <a:r>
              <a:rPr sz="900" b="0" i="0">
                <a:solidFill>
                  <a:srgbClr val="5F6B67"/>
                </a:solidFill>
                <a:latin typeface="Calibri"/>
              </a:rPr>
              <a:t/>
            </a:r>
          </a:p>
        </p:txBody>
      </p:sp>
      <p:sp>
        <p:nvSpPr>
          <p:cNvPr id="13" name="TextBox 12"/>
          <p:cNvSpPr txBox="1"/>
          <p:nvPr/>
        </p:nvSpPr>
        <p:spPr>
          <a:xfrm>
            <a:off x="822960" y="4663440"/>
            <a:ext cx="1737360" cy="320040"/>
          </a:xfrm>
          <a:prstGeom prst="rect">
            <a:avLst/>
          </a:prstGeom>
          <a:noFill/>
        </p:spPr>
        <p:txBody>
          <a:bodyPr wrap="square" anchor="t" lIns="0" rIns="0" tIns="0" bIns="0">
            <a:spAutoFit/>
          </a:bodyPr>
          <a:lstStyle/>
          <a:p>
            <a:pPr algn="l"/>
            <a:r>
              <a:rPr sz="1050" b="1" i="0">
                <a:solidFill>
                  <a:srgbClr val="C79A3B"/>
                </a:solidFill>
                <a:latin typeface="Calibri"/>
              </a:rPr>
              <a:t>RECORDS</a:t>
            </a:r>
          </a:p>
        </p:txBody>
      </p:sp>
      <p:sp>
        <p:nvSpPr>
          <p:cNvPr id="14" name="TextBox 13"/>
          <p:cNvSpPr txBox="1"/>
          <p:nvPr/>
        </p:nvSpPr>
        <p:spPr>
          <a:xfrm>
            <a:off x="2743200" y="4626864"/>
            <a:ext cx="4663440" cy="640080"/>
          </a:xfrm>
          <a:prstGeom prst="rect">
            <a:avLst/>
          </a:prstGeom>
          <a:noFill/>
        </p:spPr>
        <p:txBody>
          <a:bodyPr wrap="square" anchor="t" lIns="0" rIns="0" tIns="0" bIns="0">
            <a:spAutoFit/>
          </a:bodyPr>
          <a:lstStyle/>
          <a:p>
            <a:pPr algn="l">
              <a:lnSpc>
                <a:spcPts val="1900"/>
              </a:lnSpc>
            </a:pPr>
            <a:r>
              <a:rPr sz="1400" b="1" i="0">
                <a:solidFill>
                  <a:srgbClr val="FFFFFF"/>
                </a:solidFill>
                <a:latin typeface="Calibri"/>
              </a:rPr>
              <a:t>What were the stocking rates, or DSE per hectare?</a:t>
            </a:r>
          </a:p>
        </p:txBody>
      </p:sp>
      <p:sp>
        <p:nvSpPr>
          <p:cNvPr id="15" name="TextBox 14"/>
          <p:cNvSpPr txBox="1"/>
          <p:nvPr/>
        </p:nvSpPr>
        <p:spPr>
          <a:xfrm>
            <a:off x="7680960" y="4645152"/>
            <a:ext cx="3840480" cy="640080"/>
          </a:xfrm>
          <a:prstGeom prst="rect">
            <a:avLst/>
          </a:prstGeom>
          <a:noFill/>
        </p:spPr>
        <p:txBody>
          <a:bodyPr wrap="square" anchor="t" lIns="0" rIns="0" tIns="0" bIns="0">
            <a:spAutoFit/>
          </a:bodyPr>
          <a:lstStyle/>
          <a:p>
            <a:pPr algn="l">
              <a:lnSpc>
                <a:spcPts val="1500"/>
              </a:lnSpc>
            </a:pPr>
            <a:r>
              <a:rPr sz="1150" b="0" i="0">
                <a:solidFill>
                  <a:srgbClr val="BFCFD2"/>
                </a:solidFill>
                <a:latin typeface="Calibri"/>
              </a:rPr>
              <a:t>Whether 14-day and standard grazing differ in intensity at all.</a:t>
            </a:r>
          </a:p>
        </p:txBody>
      </p:sp>
      <p:sp>
        <p:nvSpPr>
          <p:cNvPr id="16" name="TextBox 15"/>
          <p:cNvSpPr txBox="1"/>
          <p:nvPr/>
        </p:nvSpPr>
        <p:spPr>
          <a:xfrm>
            <a:off x="822960" y="5806440"/>
            <a:ext cx="10515600" cy="365760"/>
          </a:xfrm>
          <a:prstGeom prst="rect">
            <a:avLst/>
          </a:prstGeom>
          <a:noFill/>
        </p:spPr>
        <p:txBody>
          <a:bodyPr wrap="square" anchor="t" lIns="0" rIns="0" tIns="0" bIns="0">
            <a:spAutoFit/>
          </a:bodyPr>
          <a:lstStyle/>
          <a:p>
            <a:pPr algn="l"/>
            <a:r>
              <a:rPr sz="1400" b="0" i="1">
                <a:solidFill>
                  <a:srgbClr val="8FA8AC"/>
                </a:solidFill>
                <a:latin typeface="Calibri"/>
              </a:rPr>
              <a:t>None of them requires more analysis.</a:t>
            </a:r>
          </a:p>
        </p:txBody>
      </p:sp>
      <p:sp>
        <p:nvSpPr>
          <p:cNvPr id="17" name="TextBox 16"/>
          <p:cNvSpPr txBox="1"/>
          <p:nvPr/>
        </p:nvSpPr>
        <p:spPr>
          <a:xfrm>
            <a:off x="822960" y="6309360"/>
            <a:ext cx="10515600" cy="320040"/>
          </a:xfrm>
          <a:prstGeom prst="rect">
            <a:avLst/>
          </a:prstGeom>
          <a:noFill/>
        </p:spPr>
        <p:txBody>
          <a:bodyPr wrap="square" anchor="t" lIns="0" rIns="0" tIns="0" bIns="0">
            <a:spAutoFit/>
          </a:bodyPr>
          <a:lstStyle/>
          <a:p>
            <a:pPr algn="l"/>
            <a:r>
              <a:rPr sz="1050" b="0" i="1">
                <a:solidFill>
                  <a:srgbClr val="8FA8AC"/>
                </a:solidFill>
                <a:latin typeface="Calibri"/>
              </a:rPr>
              <a:t>T1, T2 and T6 are complete, committed, and reproducible from the database.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